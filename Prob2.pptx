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7" r:id="rId3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txBody>
          <a:bodyPr/>
          <a:p>
            <a:endParaRPr lang="zh-CN" altLang="en-US" sz="2400"/>
          </a:p>
        </p:txBody>
      </p:sp>
      <p:sp>
        <p:nvSpPr>
          <p:cNvPr id="4" name="Text 1"/>
          <p:cNvSpPr/>
          <p:nvPr/>
        </p:nvSpPr>
        <p:spPr>
          <a:xfrm>
            <a:off x="217593" y="979921"/>
            <a:ext cx="5129212" cy="10255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39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电阻尼
</a:t>
            </a:r>
            <a:r>
              <a:rPr lang="en-US" sz="4395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Electrical Damping</a:t>
            </a:r>
            <a:endParaRPr lang="en-US" sz="4395" b="1" dirty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Space Grotesk" pitchFamily="34" charset="0"/>
              <a:ea typeface="Space Grotesk" pitchFamily="34" charset="-122"/>
              <a:cs typeface="Space Grotesk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3048707"/>
            <a:ext cx="127000" cy="2819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2275" dirty="0"/>
          </a:p>
        </p:txBody>
      </p:sp>
      <p:sp>
        <p:nvSpPr>
          <p:cNvPr id="6" name="Text 3"/>
          <p:cNvSpPr/>
          <p:nvPr/>
        </p:nvSpPr>
        <p:spPr>
          <a:xfrm>
            <a:off x="571500" y="3603539"/>
            <a:ext cx="12700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1255" dirty="0"/>
          </a:p>
        </p:txBody>
      </p:sp>
      <p:sp>
        <p:nvSpPr>
          <p:cNvPr id="7" name="Shape 4"/>
          <p:cNvSpPr/>
          <p:nvPr/>
        </p:nvSpPr>
        <p:spPr>
          <a:xfrm>
            <a:off x="5700712" y="0"/>
            <a:ext cx="6491288" cy="6858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700" y="0"/>
            <a:ext cx="6368627" cy="5009727"/>
          </a:xfrm>
          <a:prstGeom prst="rect">
            <a:avLst/>
          </a:prstGeom>
          <a:effectLst>
            <a:softEdge rad="127000"/>
          </a:effectLst>
          <a:scene3d>
            <a:camera prst="perspectiveHeroicExtremeLeftFacing"/>
            <a:lightRig rig="threePt" dir="t"/>
          </a:scene3d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alphaModFix amt="7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41" y="3048707"/>
            <a:ext cx="2449815" cy="2449815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  <a:reflection endPos="65000" dist="50800" dir="5400000" sy="-100000" algn="bl" rotWithShape="0"/>
            <a:softEdge rad="0"/>
          </a:effectLst>
        </p:spPr>
      </p:pic>
      <p:sp>
        <p:nvSpPr>
          <p:cNvPr id="18" name="文本框 17"/>
          <p:cNvSpPr txBox="1"/>
          <p:nvPr/>
        </p:nvSpPr>
        <p:spPr>
          <a:xfrm>
            <a:off x="43180" y="341207"/>
            <a:ext cx="2807547" cy="35983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135">
                <a:solidFill>
                  <a:schemeClr val="bg1"/>
                </a:solidFill>
              </a:rPr>
              <a:t>Qusetion2:</a:t>
            </a:r>
            <a:r>
              <a:rPr lang="en-US" altLang="zh-CN" sz="2135"/>
              <a:t>	</a:t>
            </a:r>
            <a:endParaRPr lang="en-US" altLang="zh-CN" sz="2135"/>
          </a:p>
        </p:txBody>
      </p:sp>
      <p:sp>
        <p:nvSpPr>
          <p:cNvPr id="20" name="文本框 19"/>
          <p:cNvSpPr txBox="1"/>
          <p:nvPr/>
        </p:nvSpPr>
        <p:spPr>
          <a:xfrm>
            <a:off x="3088640" y="5498253"/>
            <a:ext cx="6806353" cy="6654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86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sym typeface="+mn-ea"/>
              </a:rPr>
              <a:t>答辩人：杨昊松        组长：匡自龙</a:t>
            </a:r>
            <a:endParaRPr lang="en-US" sz="1865" dirty="0"/>
          </a:p>
          <a:p>
            <a:endParaRPr lang="en-US" altLang="en-US" sz="186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0" y="847"/>
            <a:ext cx="16123073" cy="7702352"/>
            <a:chOff x="1448" y="14"/>
            <a:chExt cx="16246" cy="9775"/>
          </a:xfrm>
        </p:grpSpPr>
        <p:sp>
          <p:nvSpPr>
            <p:cNvPr id="22" name="Shape 0"/>
            <p:cNvSpPr/>
            <p:nvPr/>
          </p:nvSpPr>
          <p:spPr>
            <a:xfrm>
              <a:off x="1448" y="14"/>
              <a:ext cx="12314" cy="929"/>
            </a:xfrm>
            <a:prstGeom prst="rect">
              <a:avLst/>
            </a:prstGeom>
            <a:solidFill>
              <a:srgbClr val="0F172A"/>
            </a:solidFill>
          </p:spPr>
          <p:txBody>
            <a:bodyPr/>
            <a:p>
              <a:endParaRPr lang="zh-CN" altLang="en-US" sz="24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7277" y="9322"/>
              <a:ext cx="417" cy="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grpSp>
          <p:nvGrpSpPr>
            <p:cNvPr id="23" name="组合 22"/>
            <p:cNvGrpSpPr/>
            <p:nvPr/>
          </p:nvGrpSpPr>
          <p:grpSpPr>
            <a:xfrm rot="0">
              <a:off x="1717" y="14"/>
              <a:ext cx="581" cy="927"/>
              <a:chOff x="841003" y="360040"/>
              <a:chExt cx="504056" cy="836712"/>
            </a:xfrm>
            <a:solidFill>
              <a:schemeClr val="accent5">
                <a:lumMod val="75000"/>
              </a:schemeClr>
            </a:solidFill>
          </p:grpSpPr>
          <p:sp>
            <p:nvSpPr>
              <p:cNvPr id="24" name="矩形 23"/>
              <p:cNvSpPr/>
              <p:nvPr/>
            </p:nvSpPr>
            <p:spPr>
              <a:xfrm>
                <a:off x="841003" y="360040"/>
                <a:ext cx="504056" cy="5486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等腰三角形 24"/>
              <p:cNvSpPr/>
              <p:nvPr/>
            </p:nvSpPr>
            <p:spPr>
              <a:xfrm rot="10800000">
                <a:off x="841003" y="908720"/>
                <a:ext cx="504056" cy="2880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7" name="Freeform 126"/>
            <p:cNvSpPr>
              <a:spLocks noChangeAspect="1" noEditPoints="1"/>
            </p:cNvSpPr>
            <p:nvPr/>
          </p:nvSpPr>
          <p:spPr bwMode="auto">
            <a:xfrm>
              <a:off x="1842" y="166"/>
              <a:ext cx="333" cy="456"/>
            </a:xfrm>
            <a:custGeom>
              <a:avLst/>
              <a:gdLst>
                <a:gd name="T0" fmla="*/ 48 w 81"/>
                <a:gd name="T1" fmla="*/ 27 h 101"/>
                <a:gd name="T2" fmla="*/ 4 w 81"/>
                <a:gd name="T3" fmla="*/ 48 h 101"/>
                <a:gd name="T4" fmla="*/ 0 w 81"/>
                <a:gd name="T5" fmla="*/ 31 h 101"/>
                <a:gd name="T6" fmla="*/ 58 w 81"/>
                <a:gd name="T7" fmla="*/ 90 h 101"/>
                <a:gd name="T8" fmla="*/ 81 w 81"/>
                <a:gd name="T9" fmla="*/ 98 h 101"/>
                <a:gd name="T10" fmla="*/ 58 w 81"/>
                <a:gd name="T11" fmla="*/ 90 h 101"/>
                <a:gd name="T12" fmla="*/ 53 w 81"/>
                <a:gd name="T13" fmla="*/ 101 h 101"/>
                <a:gd name="T14" fmla="*/ 29 w 81"/>
                <a:gd name="T15" fmla="*/ 98 h 101"/>
                <a:gd name="T16" fmla="*/ 0 w 81"/>
                <a:gd name="T17" fmla="*/ 90 h 101"/>
                <a:gd name="T18" fmla="*/ 29 w 81"/>
                <a:gd name="T19" fmla="*/ 87 h 101"/>
                <a:gd name="T20" fmla="*/ 38 w 81"/>
                <a:gd name="T21" fmla="*/ 76 h 101"/>
                <a:gd name="T22" fmla="*/ 0 w 81"/>
                <a:gd name="T23" fmla="*/ 72 h 101"/>
                <a:gd name="T24" fmla="*/ 4 w 81"/>
                <a:gd name="T25" fmla="*/ 54 h 101"/>
                <a:gd name="T26" fmla="*/ 48 w 81"/>
                <a:gd name="T27" fmla="*/ 76 h 101"/>
                <a:gd name="T28" fmla="*/ 44 w 81"/>
                <a:gd name="T29" fmla="*/ 87 h 101"/>
                <a:gd name="T30" fmla="*/ 53 w 81"/>
                <a:gd name="T31" fmla="*/ 90 h 101"/>
                <a:gd name="T32" fmla="*/ 4 w 81"/>
                <a:gd name="T33" fmla="*/ 0 h 101"/>
                <a:gd name="T34" fmla="*/ 48 w 81"/>
                <a:gd name="T35" fmla="*/ 21 h 101"/>
                <a:gd name="T36" fmla="*/ 0 w 81"/>
                <a:gd name="T37" fmla="*/ 17 h 101"/>
                <a:gd name="T38" fmla="*/ 4 w 81"/>
                <a:gd name="T39" fmla="*/ 0 h 101"/>
                <a:gd name="T40" fmla="*/ 53 w 81"/>
                <a:gd name="T41" fmla="*/ 76 h 101"/>
                <a:gd name="T42" fmla="*/ 81 w 81"/>
                <a:gd name="T43" fmla="*/ 72 h 101"/>
                <a:gd name="T44" fmla="*/ 77 w 81"/>
                <a:gd name="T45" fmla="*/ 54 h 101"/>
                <a:gd name="T46" fmla="*/ 59 w 81"/>
                <a:gd name="T47" fmla="*/ 8 h 101"/>
                <a:gd name="T48" fmla="*/ 69 w 81"/>
                <a:gd name="T49" fmla="*/ 13 h 101"/>
                <a:gd name="T50" fmla="*/ 59 w 81"/>
                <a:gd name="T51" fmla="*/ 8 h 101"/>
                <a:gd name="T52" fmla="*/ 69 w 81"/>
                <a:gd name="T53" fmla="*/ 63 h 101"/>
                <a:gd name="T54" fmla="*/ 59 w 81"/>
                <a:gd name="T55" fmla="*/ 67 h 101"/>
                <a:gd name="T56" fmla="*/ 59 w 81"/>
                <a:gd name="T57" fmla="*/ 35 h 101"/>
                <a:gd name="T58" fmla="*/ 69 w 81"/>
                <a:gd name="T59" fmla="*/ 40 h 101"/>
                <a:gd name="T60" fmla="*/ 59 w 81"/>
                <a:gd name="T61" fmla="*/ 35 h 101"/>
                <a:gd name="T62" fmla="*/ 53 w 81"/>
                <a:gd name="T63" fmla="*/ 21 h 101"/>
                <a:gd name="T64" fmla="*/ 81 w 81"/>
                <a:gd name="T65" fmla="*/ 17 h 101"/>
                <a:gd name="T66" fmla="*/ 77 w 81"/>
                <a:gd name="T67" fmla="*/ 0 h 101"/>
                <a:gd name="T68" fmla="*/ 53 w 81"/>
                <a:gd name="T69" fmla="*/ 27 h 101"/>
                <a:gd name="T70" fmla="*/ 77 w 81"/>
                <a:gd name="T71" fmla="*/ 48 h 101"/>
                <a:gd name="T72" fmla="*/ 81 w 81"/>
                <a:gd name="T73" fmla="*/ 31 h 101"/>
                <a:gd name="T74" fmla="*/ 53 w 81"/>
                <a:gd name="T75" fmla="*/ 2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101">
                  <a:moveTo>
                    <a:pt x="4" y="27"/>
                  </a:moveTo>
                  <a:cubicBezTo>
                    <a:pt x="48" y="27"/>
                    <a:pt x="48" y="27"/>
                    <a:pt x="48" y="27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46"/>
                    <a:pt x="0" y="44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29"/>
                    <a:pt x="2" y="27"/>
                    <a:pt x="4" y="27"/>
                  </a:cubicBezTo>
                  <a:close/>
                  <a:moveTo>
                    <a:pt x="58" y="90"/>
                  </a:moveTo>
                  <a:cubicBezTo>
                    <a:pt x="81" y="90"/>
                    <a:pt x="81" y="90"/>
                    <a:pt x="81" y="90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8" y="90"/>
                    <a:pt x="58" y="90"/>
                    <a:pt x="58" y="90"/>
                  </a:cubicBezTo>
                  <a:close/>
                  <a:moveTo>
                    <a:pt x="53" y="98"/>
                  </a:moveTo>
                  <a:cubicBezTo>
                    <a:pt x="53" y="101"/>
                    <a:pt x="53" y="101"/>
                    <a:pt x="53" y="101"/>
                  </a:cubicBezTo>
                  <a:cubicBezTo>
                    <a:pt x="29" y="101"/>
                    <a:pt x="29" y="101"/>
                    <a:pt x="29" y="101"/>
                  </a:cubicBezTo>
                  <a:cubicBezTo>
                    <a:pt x="29" y="98"/>
                    <a:pt x="29" y="98"/>
                    <a:pt x="29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9" y="87"/>
                    <a:pt x="29" y="87"/>
                    <a:pt x="29" y="87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76"/>
                    <a:pt x="38" y="76"/>
                    <a:pt x="38" y="76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2" y="76"/>
                    <a:pt x="0" y="74"/>
                    <a:pt x="0" y="7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6"/>
                    <a:pt x="2" y="54"/>
                    <a:pt x="4" y="54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76"/>
                    <a:pt x="48" y="76"/>
                    <a:pt x="48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87"/>
                    <a:pt x="44" y="87"/>
                    <a:pt x="44" y="87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3" y="90"/>
                    <a:pt x="53" y="90"/>
                    <a:pt x="53" y="90"/>
                  </a:cubicBezTo>
                  <a:cubicBezTo>
                    <a:pt x="53" y="98"/>
                    <a:pt x="53" y="98"/>
                    <a:pt x="53" y="98"/>
                  </a:cubicBezTo>
                  <a:close/>
                  <a:moveTo>
                    <a:pt x="4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2" y="21"/>
                    <a:pt x="0" y="19"/>
                    <a:pt x="0" y="1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lose/>
                  <a:moveTo>
                    <a:pt x="53" y="54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77" y="76"/>
                    <a:pt x="77" y="76"/>
                    <a:pt x="77" y="76"/>
                  </a:cubicBezTo>
                  <a:cubicBezTo>
                    <a:pt x="79" y="76"/>
                    <a:pt x="81" y="74"/>
                    <a:pt x="81" y="72"/>
                  </a:cubicBezTo>
                  <a:cubicBezTo>
                    <a:pt x="81" y="58"/>
                    <a:pt x="81" y="58"/>
                    <a:pt x="81" y="58"/>
                  </a:cubicBezTo>
                  <a:cubicBezTo>
                    <a:pt x="81" y="56"/>
                    <a:pt x="79" y="54"/>
                    <a:pt x="77" y="54"/>
                  </a:cubicBezTo>
                  <a:cubicBezTo>
                    <a:pt x="53" y="54"/>
                    <a:pt x="53" y="54"/>
                    <a:pt x="53" y="54"/>
                  </a:cubicBezTo>
                  <a:close/>
                  <a:moveTo>
                    <a:pt x="59" y="8"/>
                  </a:moveTo>
                  <a:cubicBezTo>
                    <a:pt x="69" y="8"/>
                    <a:pt x="69" y="8"/>
                    <a:pt x="69" y="8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9" y="8"/>
                    <a:pt x="59" y="8"/>
                    <a:pt x="59" y="8"/>
                  </a:cubicBezTo>
                  <a:close/>
                  <a:moveTo>
                    <a:pt x="59" y="63"/>
                  </a:moveTo>
                  <a:cubicBezTo>
                    <a:pt x="69" y="63"/>
                    <a:pt x="69" y="63"/>
                    <a:pt x="69" y="63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59" y="63"/>
                    <a:pt x="59" y="63"/>
                    <a:pt x="59" y="63"/>
                  </a:cubicBezTo>
                  <a:close/>
                  <a:moveTo>
                    <a:pt x="59" y="35"/>
                  </a:moveTo>
                  <a:cubicBezTo>
                    <a:pt x="69" y="35"/>
                    <a:pt x="69" y="35"/>
                    <a:pt x="69" y="35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9" y="35"/>
                    <a:pt x="59" y="35"/>
                  </a:cubicBezTo>
                  <a:close/>
                  <a:moveTo>
                    <a:pt x="53" y="0"/>
                  </a:moveTo>
                  <a:cubicBezTo>
                    <a:pt x="53" y="21"/>
                    <a:pt x="53" y="21"/>
                    <a:pt x="53" y="21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9" y="21"/>
                    <a:pt x="81" y="19"/>
                    <a:pt x="81" y="17"/>
                  </a:cubicBezTo>
                  <a:cubicBezTo>
                    <a:pt x="81" y="4"/>
                    <a:pt x="81" y="4"/>
                    <a:pt x="81" y="4"/>
                  </a:cubicBezTo>
                  <a:cubicBezTo>
                    <a:pt x="81" y="2"/>
                    <a:pt x="79" y="0"/>
                    <a:pt x="77" y="0"/>
                  </a:cubicBezTo>
                  <a:cubicBezTo>
                    <a:pt x="53" y="0"/>
                    <a:pt x="53" y="0"/>
                    <a:pt x="53" y="0"/>
                  </a:cubicBezTo>
                  <a:close/>
                  <a:moveTo>
                    <a:pt x="53" y="27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9" y="48"/>
                    <a:pt x="81" y="46"/>
                    <a:pt x="81" y="44"/>
                  </a:cubicBezTo>
                  <a:cubicBezTo>
                    <a:pt x="81" y="31"/>
                    <a:pt x="81" y="31"/>
                    <a:pt x="81" y="31"/>
                  </a:cubicBezTo>
                  <a:cubicBezTo>
                    <a:pt x="81" y="29"/>
                    <a:pt x="79" y="27"/>
                    <a:pt x="77" y="27"/>
                  </a:cubicBezTo>
                  <a:lnTo>
                    <a:pt x="53" y="27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zh-CN" altLang="en-US">
                <a:solidFill>
                  <a:srgbClr val="34495E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96" y="44"/>
              <a:ext cx="2594" cy="542"/>
            </a:xfrm>
            <a:prstGeom prst="rect">
              <a:avLst/>
            </a:prstGeom>
          </p:spPr>
        </p:pic>
      </p:grpSp>
      <p:sp>
        <p:nvSpPr>
          <p:cNvPr id="18" name="Shape 14"/>
          <p:cNvSpPr/>
          <p:nvPr/>
        </p:nvSpPr>
        <p:spPr>
          <a:xfrm>
            <a:off x="18627" y="731520"/>
            <a:ext cx="12221633" cy="6083300"/>
          </a:xfrm>
          <a:prstGeom prst="rect">
            <a:avLst/>
          </a:prstGeom>
          <a:solidFill>
            <a:srgbClr val="003366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21360" y="2760133"/>
            <a:ext cx="10668000" cy="10236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请各位老师同学批评指正</a:t>
            </a:r>
            <a:r>
              <a:rPr lang="en-US" sz="213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！</a:t>
            </a:r>
            <a:endParaRPr lang="en-US" sz="2135" b="1" dirty="0">
              <a:solidFill>
                <a:srgbClr val="FFFFFF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0960" y="5671820"/>
            <a:ext cx="12131040" cy="8009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4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汇报人：杨昊松 | PPT制作：匡自龙</a:t>
            </a:r>
            <a:endParaRPr lang="en-US" sz="104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WPS 演示</Application>
  <PresentationFormat>宽屏</PresentationFormat>
  <Paragraphs>11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Montserrat</vt:lpstr>
      <vt:lpstr>Montserrat</vt:lpstr>
      <vt:lpstr>Montserrat</vt:lpstr>
      <vt:lpstr>Open Sans</vt:lpstr>
      <vt:lpstr>Open Sans</vt:lpstr>
      <vt:lpstr>Open Sans</vt:lpstr>
      <vt:lpstr>Space Grotesk</vt:lpstr>
      <vt:lpstr>Space Grotesk</vt:lpstr>
      <vt:lpstr>Space Grotesk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kuangping</cp:lastModifiedBy>
  <cp:revision>164</cp:revision>
  <dcterms:created xsi:type="dcterms:W3CDTF">2026-03-25T11:09:51Z</dcterms:created>
  <dcterms:modified xsi:type="dcterms:W3CDTF">2026-03-25T11:09:51Z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EB9B10C8AC9D9E275CC2C369856C4E3E_41</vt:lpwstr>
  </property>
</Properties>
</file>