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6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291346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291346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jpe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4287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2197" y="1968354"/>
            <a:ext cx="8279606" cy="5572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Qusetion 2 —— Electrical damping</a:t>
            </a:r>
            <a:endParaRPr lang="en-US" sz="3295" dirty="0"/>
          </a:p>
        </p:txBody>
      </p:sp>
      <p:sp>
        <p:nvSpPr>
          <p:cNvPr id="4" name="Text 1"/>
          <p:cNvSpPr/>
          <p:nvPr/>
        </p:nvSpPr>
        <p:spPr>
          <a:xfrm>
            <a:off x="432197" y="2715295"/>
            <a:ext cx="8279606" cy="3321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5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非线性电磁阻尼特性研究</a:t>
            </a:r>
            <a:endParaRPr lang="en-US" sz="1705" dirty="0"/>
          </a:p>
        </p:txBody>
      </p:sp>
      <p:sp>
        <p:nvSpPr>
          <p:cNvPr id="5" name="Text 2"/>
          <p:cNvSpPr/>
          <p:nvPr/>
        </p:nvSpPr>
        <p:spPr>
          <a:xfrm>
            <a:off x="432197" y="3476104"/>
            <a:ext cx="1200150" cy="333970"/>
          </a:xfrm>
          <a:prstGeom prst="rect">
            <a:avLst/>
          </a:prstGeom>
          <a:noFill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7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答辩人：杨昊松</a:t>
            </a:r>
            <a:endParaRPr lang="en-US" sz="1270" dirty="0"/>
          </a:p>
        </p:txBody>
      </p:sp>
      <p:sp>
        <p:nvSpPr>
          <p:cNvPr id="6" name="Text 3"/>
          <p:cNvSpPr/>
          <p:nvPr/>
        </p:nvSpPr>
        <p:spPr>
          <a:xfrm>
            <a:off x="1918097" y="3476104"/>
            <a:ext cx="1028700" cy="333970"/>
          </a:xfrm>
          <a:prstGeom prst="rect">
            <a:avLst/>
          </a:prstGeom>
          <a:noFill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7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组长：匡自龙</a:t>
            </a:r>
            <a:endParaRPr lang="en-US" sz="12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引言：电阻尼问题的物理背景与挑战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28625" y="1228725"/>
            <a:ext cx="4886325" cy="248245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0033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问题重述 (Problem Restatement)</a:t>
            </a:r>
            <a:endParaRPr lang="en-US" sz="1195" dirty="0"/>
          </a:p>
        </p:txBody>
      </p:sp>
      <p:sp>
        <p:nvSpPr>
          <p:cNvPr id="6" name="Shape 3"/>
          <p:cNvSpPr/>
          <p:nvPr/>
        </p:nvSpPr>
        <p:spPr>
          <a:xfrm>
            <a:off x="428625" y="1562695"/>
            <a:ext cx="4886325" cy="1480096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4350" y="1777008"/>
            <a:ext cx="4714875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物理系统：</a:t>
            </a:r>
            <a:r>
              <a:rPr lang="en-US" sz="94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一个悬挂在弹簧上的磁铁在发生位移时呈现简谐运动形式。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514350" y="2111313"/>
            <a:ext cx="4714875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核心现象：</a:t>
            </a:r>
            <a:r>
              <a:rPr lang="en-US" sz="94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若此磁铁在与电阻相连的线圈内振动，其运动会受到阻尼。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514350" y="2445618"/>
            <a:ext cx="4714875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研究目标：</a:t>
            </a:r>
            <a:r>
              <a:rPr lang="en-US" sz="94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探究影响阻尼效果的各种物理因素及其内在机制，建立精确的动力学模</a:t>
            </a:r>
            <a:r>
              <a:rPr lang="en-US" sz="94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型。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428625" y="3171379"/>
            <a:ext cx="4886325" cy="248245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0033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关键词 (Keywords)</a:t>
            </a:r>
            <a:endParaRPr lang="en-US" sz="1195" dirty="0"/>
          </a:p>
        </p:txBody>
      </p:sp>
      <p:sp>
        <p:nvSpPr>
          <p:cNvPr id="11" name="Shape 8"/>
          <p:cNvSpPr/>
          <p:nvPr/>
        </p:nvSpPr>
        <p:spPr>
          <a:xfrm>
            <a:off x="428625" y="3505349"/>
            <a:ext cx="4886325" cy="1193006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2975" y="3705374"/>
            <a:ext cx="4286250" cy="3750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1200"/>
              </a:lnSpc>
              <a:buSzPct val="100000"/>
              <a:buChar char="•"/>
            </a:pPr>
            <a:r>
              <a:rPr lang="en-US" sz="88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物理机制：</a:t>
            </a:r>
            <a:r>
              <a:rPr lang="en-US" sz="94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电磁阻尼 (Electromagnetic Damping)、能量耗散 (Energy Dissipation)。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942975" y="4137571"/>
            <a:ext cx="4286250" cy="3750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1200"/>
              </a:lnSpc>
              <a:buSzPct val="100000"/>
              <a:buChar char="•"/>
            </a:pPr>
            <a:r>
              <a:rPr lang="en-US" sz="88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实际因素：</a:t>
            </a:r>
            <a:r>
              <a:rPr lang="en-US" sz="94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条形磁铁磁场的纵向分布、位置相关阻尼 (Position-dependent Damping)。</a:t>
            </a:r>
            <a:endParaRPr lang="en-US" sz="885" dirty="0"/>
          </a:p>
        </p:txBody>
      </p:sp>
      <p:sp>
        <p:nvSpPr>
          <p:cNvPr id="14" name="Shape 11"/>
          <p:cNvSpPr/>
          <p:nvPr/>
        </p:nvSpPr>
        <p:spPr>
          <a:xfrm>
            <a:off x="5564981" y="1143000"/>
            <a:ext cx="3043238" cy="3380054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1228725"/>
            <a:ext cx="2857500" cy="28575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57850" y="4177308"/>
            <a:ext cx="2857500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25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图 1：磁铁在线圈中振动的物理系统示意图</a:t>
            </a:r>
            <a:endParaRPr lang="en-US" sz="7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目录：研究逻辑与架构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14375" y="1143000"/>
            <a:ext cx="7715250" cy="70008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0100" y="1276945"/>
            <a:ext cx="428625" cy="4179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0033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435" dirty="0"/>
          </a:p>
        </p:txBody>
      </p:sp>
      <p:sp>
        <p:nvSpPr>
          <p:cNvPr id="7" name="Text 4"/>
          <p:cNvSpPr/>
          <p:nvPr/>
        </p:nvSpPr>
        <p:spPr>
          <a:xfrm>
            <a:off x="1371600" y="1228725"/>
            <a:ext cx="2314575" cy="29110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物理建模与动力学分析</a:t>
            </a:r>
            <a:endParaRPr lang="en-US" sz="1395" dirty="0"/>
          </a:p>
        </p:txBody>
      </p:sp>
      <p:sp>
        <p:nvSpPr>
          <p:cNvPr id="8" name="Text 5"/>
          <p:cNvSpPr/>
          <p:nvPr/>
        </p:nvSpPr>
        <p:spPr>
          <a:xfrm>
            <a:off x="1371600" y="1555552"/>
            <a:ext cx="2314575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系统描述、受力分析与初步运动方程推导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714375" y="1914525"/>
            <a:ext cx="7715250" cy="70008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" y="2048470"/>
            <a:ext cx="432197" cy="4179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0033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435" dirty="0"/>
          </a:p>
        </p:txBody>
      </p:sp>
      <p:sp>
        <p:nvSpPr>
          <p:cNvPr id="11" name="Text 8"/>
          <p:cNvSpPr/>
          <p:nvPr/>
        </p:nvSpPr>
        <p:spPr>
          <a:xfrm>
            <a:off x="1375172" y="2000250"/>
            <a:ext cx="2443163" cy="29110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理论推导与非线性修正</a:t>
            </a:r>
            <a:endParaRPr lang="en-US" sz="1395" dirty="0"/>
          </a:p>
        </p:txBody>
      </p:sp>
      <p:sp>
        <p:nvSpPr>
          <p:cNvPr id="12" name="Text 9"/>
          <p:cNvSpPr/>
          <p:nvPr/>
        </p:nvSpPr>
        <p:spPr>
          <a:xfrm>
            <a:off x="1375172" y="2327077"/>
            <a:ext cx="2443163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磁场分布模型建立与位置相关阻尼特性研究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714375" y="2686050"/>
            <a:ext cx="7715250" cy="70008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0100" y="2819995"/>
            <a:ext cx="432197" cy="4179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0033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435" dirty="0"/>
          </a:p>
        </p:txBody>
      </p:sp>
      <p:sp>
        <p:nvSpPr>
          <p:cNvPr id="15" name="Text 12"/>
          <p:cNvSpPr/>
          <p:nvPr/>
        </p:nvSpPr>
        <p:spPr>
          <a:xfrm>
            <a:off x="1375172" y="2771775"/>
            <a:ext cx="2496741" cy="29110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实验验证与参数探究</a:t>
            </a:r>
            <a:endParaRPr lang="en-US" sz="1395" dirty="0"/>
          </a:p>
        </p:txBody>
      </p:sp>
      <p:sp>
        <p:nvSpPr>
          <p:cNvPr id="16" name="Text 13"/>
          <p:cNvSpPr/>
          <p:nvPr/>
        </p:nvSpPr>
        <p:spPr>
          <a:xfrm>
            <a:off x="1375172" y="3098602"/>
            <a:ext cx="2496741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电阻 R 与线圈匝数 N 对阻尼效果的影响分析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714375" y="3457575"/>
            <a:ext cx="7715250" cy="70008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0100" y="3591520"/>
            <a:ext cx="467916" cy="4179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0033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435" dirty="0"/>
          </a:p>
        </p:txBody>
      </p:sp>
      <p:sp>
        <p:nvSpPr>
          <p:cNvPr id="19" name="Text 16"/>
          <p:cNvSpPr/>
          <p:nvPr/>
        </p:nvSpPr>
        <p:spPr>
          <a:xfrm>
            <a:off x="1410891" y="3543300"/>
            <a:ext cx="2057400" cy="29110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总结展望与工程应用</a:t>
            </a:r>
            <a:endParaRPr lang="en-US" sz="1395" dirty="0"/>
          </a:p>
        </p:txBody>
      </p:sp>
      <p:sp>
        <p:nvSpPr>
          <p:cNvPr id="20" name="Text 17"/>
          <p:cNvSpPr/>
          <p:nvPr/>
        </p:nvSpPr>
        <p:spPr>
          <a:xfrm>
            <a:off x="1410891" y="3870127"/>
            <a:ext cx="2057400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研究结论总结、反思及未来改进方向</a:t>
            </a:r>
            <a:endParaRPr lang="en-US" sz="9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318021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物理建模与动力学分析：系统描述与受力分析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28625" y="1214438"/>
            <a:ext cx="1400175" cy="228600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33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物理系统描述</a:t>
            </a:r>
            <a:endParaRPr lang="en-US" sz="1090" dirty="0"/>
          </a:p>
        </p:txBody>
      </p:sp>
      <p:sp>
        <p:nvSpPr>
          <p:cNvPr id="6" name="Shape 3"/>
          <p:cNvSpPr/>
          <p:nvPr/>
        </p:nvSpPr>
        <p:spPr>
          <a:xfrm>
            <a:off x="428625" y="1514475"/>
            <a:ext cx="1400175" cy="8511778"/>
          </a:xfrm>
          <a:prstGeom prst="rect">
            <a:avLst/>
          </a:prstGeom>
          <a:solidFill>
            <a:srgbClr val="FFFFFF"/>
          </a:solidFill>
          <a:ln w="9144">
            <a:solidFill>
              <a:srgbClr val="D1D1D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0125" y="1735931"/>
            <a:ext cx="671513" cy="40683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1400"/>
              </a:lnSpc>
              <a:buSzPct val="100000"/>
              <a:buChar char="•"/>
            </a:pPr>
            <a:r>
              <a:rPr lang="en-US" sz="83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系统组成：</a:t>
            </a: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endParaRPr lang="en-US" sz="835" dirty="0"/>
          </a:p>
        </p:txBody>
      </p:sp>
      <p:sp>
        <p:nvSpPr>
          <p:cNvPr id="8" name="Text 5"/>
          <p:cNvSpPr/>
          <p:nvPr/>
        </p:nvSpPr>
        <p:spPr>
          <a:xfrm>
            <a:off x="1000125" y="5861447"/>
            <a:ext cx="671513" cy="40362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1400"/>
              </a:lnSpc>
              <a:buSzPct val="100000"/>
              <a:buChar char="•"/>
            </a:pPr>
            <a:r>
              <a:rPr lang="en-US" sz="83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坐标系建立：</a:t>
            </a: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endParaRPr lang="en-US" sz="835" dirty="0"/>
          </a:p>
        </p:txBody>
      </p:sp>
      <p:sp>
        <p:nvSpPr>
          <p:cNvPr id="9" name="Text 6"/>
          <p:cNvSpPr/>
          <p:nvPr/>
        </p:nvSpPr>
        <p:spPr>
          <a:xfrm>
            <a:off x="1428750" y="1918097"/>
            <a:ext cx="242888" cy="11251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1400"/>
              </a:lnSpc>
              <a:buSzPct val="100000"/>
              <a:buChar char="◦"/>
            </a:pP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质量为 </a:t>
            </a:r>
            <a:r>
              <a:rPr lang="en-US" sz="1050" i="1" dirty="0">
                <a:solidFill>
                  <a:srgbClr val="33333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</a:t>
            </a: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的条形磁铁</a:t>
            </a:r>
            <a:endParaRPr lang="en-US" sz="890" dirty="0"/>
          </a:p>
        </p:txBody>
      </p:sp>
      <p:sp>
        <p:nvSpPr>
          <p:cNvPr id="10" name="Text 7"/>
          <p:cNvSpPr/>
          <p:nvPr/>
        </p:nvSpPr>
        <p:spPr>
          <a:xfrm>
            <a:off x="1428750" y="3100388"/>
            <a:ext cx="242888" cy="11251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1400"/>
              </a:lnSpc>
              <a:buSzPct val="100000"/>
              <a:buChar char="◦"/>
            </a:pP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劲度系数为 </a:t>
            </a:r>
            <a:r>
              <a:rPr lang="en-US" sz="1050" i="1" dirty="0">
                <a:solidFill>
                  <a:srgbClr val="33333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k</a:t>
            </a: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的线性弹簧</a:t>
            </a:r>
            <a:endParaRPr lang="en-US" sz="890" dirty="0"/>
          </a:p>
        </p:txBody>
      </p:sp>
      <p:sp>
        <p:nvSpPr>
          <p:cNvPr id="11" name="Text 8"/>
          <p:cNvSpPr/>
          <p:nvPr/>
        </p:nvSpPr>
        <p:spPr>
          <a:xfrm>
            <a:off x="1428750" y="4282678"/>
            <a:ext cx="242888" cy="15216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1400"/>
              </a:lnSpc>
              <a:buSzPct val="100000"/>
              <a:buChar char="◦"/>
            </a:pP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总电阻为 </a:t>
            </a:r>
            <a:r>
              <a:rPr lang="en-US" sz="1050" i="1" dirty="0">
                <a:solidFill>
                  <a:srgbClr val="33333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</a:t>
            </a: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的感应线圈（共 </a:t>
            </a:r>
            <a:r>
              <a:rPr lang="en-US" sz="1050" i="1" dirty="0">
                <a:solidFill>
                  <a:srgbClr val="33333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N</a:t>
            </a: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匝）</a:t>
            </a:r>
            <a:endParaRPr lang="en-US" sz="890" dirty="0"/>
          </a:p>
        </p:txBody>
      </p:sp>
      <p:sp>
        <p:nvSpPr>
          <p:cNvPr id="12" name="Text 9"/>
          <p:cNvSpPr/>
          <p:nvPr/>
        </p:nvSpPr>
        <p:spPr>
          <a:xfrm>
            <a:off x="428625" y="10040541"/>
            <a:ext cx="1385888" cy="228600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33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受力分析</a:t>
            </a:r>
            <a:endParaRPr lang="en-US" sz="1090" dirty="0"/>
          </a:p>
        </p:txBody>
      </p:sp>
      <p:sp>
        <p:nvSpPr>
          <p:cNvPr id="13" name="Shape 10"/>
          <p:cNvSpPr/>
          <p:nvPr/>
        </p:nvSpPr>
        <p:spPr>
          <a:xfrm>
            <a:off x="428625" y="10340578"/>
            <a:ext cx="1385888" cy="2750344"/>
          </a:xfrm>
          <a:prstGeom prst="rect">
            <a:avLst/>
          </a:prstGeom>
          <a:solidFill>
            <a:srgbClr val="FFFFFF"/>
          </a:solidFill>
          <a:ln w="9144">
            <a:solidFill>
              <a:srgbClr val="D1D1D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28750" y="6225778"/>
            <a:ext cx="242888" cy="11251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1400"/>
              </a:lnSpc>
              <a:buSzPct val="100000"/>
              <a:buChar char="◦"/>
            </a:pP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以竖直向下为 </a:t>
            </a:r>
            <a:r>
              <a:rPr lang="en-US" sz="1050" i="1" dirty="0">
                <a:solidFill>
                  <a:srgbClr val="33333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y</a:t>
            </a: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轴正方向</a:t>
            </a:r>
            <a:endParaRPr lang="en-US" sz="890" dirty="0"/>
          </a:p>
        </p:txBody>
      </p:sp>
      <p:sp>
        <p:nvSpPr>
          <p:cNvPr id="15" name="Text 12"/>
          <p:cNvSpPr/>
          <p:nvPr/>
        </p:nvSpPr>
        <p:spPr>
          <a:xfrm>
            <a:off x="1428750" y="7408069"/>
            <a:ext cx="242888" cy="10929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1400"/>
              </a:lnSpc>
              <a:buSzPct val="100000"/>
              <a:buChar char="◦"/>
            </a:pP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以弹簧原长位置为参考点</a:t>
            </a:r>
            <a:endParaRPr lang="en-US" sz="890" dirty="0"/>
          </a:p>
        </p:txBody>
      </p:sp>
      <p:sp>
        <p:nvSpPr>
          <p:cNvPr id="16" name="Text 13"/>
          <p:cNvSpPr/>
          <p:nvPr/>
        </p:nvSpPr>
        <p:spPr>
          <a:xfrm>
            <a:off x="1428750" y="8558213"/>
            <a:ext cx="242888" cy="1339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1400"/>
              </a:lnSpc>
              <a:buSzPct val="100000"/>
              <a:buChar char="◦"/>
            </a:pP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平衡位置定义为坐标原点 </a:t>
            </a:r>
            <a:r>
              <a:rPr lang="en-US" sz="1050" i="1" dirty="0">
                <a:solidFill>
                  <a:srgbClr val="33333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y = 0</a:t>
            </a:r>
            <a:endParaRPr lang="en-US" sz="890" dirty="0"/>
          </a:p>
        </p:txBody>
      </p:sp>
      <p:sp>
        <p:nvSpPr>
          <p:cNvPr id="17" name="Text 14"/>
          <p:cNvSpPr/>
          <p:nvPr/>
        </p:nvSpPr>
        <p:spPr>
          <a:xfrm>
            <a:off x="571500" y="10569178"/>
            <a:ext cx="1100138" cy="3643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磁铁在运动过程中受到三个主要作用力：</a:t>
            </a:r>
            <a:endParaRPr lang="en-US" sz="890" dirty="0"/>
          </a:p>
        </p:txBody>
      </p:sp>
      <p:sp>
        <p:nvSpPr>
          <p:cNvPr id="18" name="Text 15"/>
          <p:cNvSpPr/>
          <p:nvPr/>
        </p:nvSpPr>
        <p:spPr>
          <a:xfrm>
            <a:off x="857250" y="11047809"/>
            <a:ext cx="814388" cy="4286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1400"/>
              </a:lnSpc>
              <a:buSzPct val="100000"/>
              <a:buFont typeface="+mj-lt"/>
              <a:buAutoNum type="arabicPeriod"/>
            </a:pPr>
            <a:r>
              <a:rPr lang="en-US" sz="83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重力：</a:t>
            </a: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050" i="1" dirty="0">
                <a:solidFill>
                  <a:srgbClr val="33333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 = mg</a:t>
            </a:r>
            <a:endParaRPr lang="en-US" sz="835" dirty="0"/>
          </a:p>
        </p:txBody>
      </p:sp>
      <p:sp>
        <p:nvSpPr>
          <p:cNvPr id="19" name="Text 16"/>
          <p:cNvSpPr/>
          <p:nvPr/>
        </p:nvSpPr>
        <p:spPr>
          <a:xfrm>
            <a:off x="857250" y="11533584"/>
            <a:ext cx="814388" cy="6107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1400"/>
              </a:lnSpc>
              <a:buSzPct val="100000"/>
              <a:buFont typeface="+mj-lt"/>
              <a:buAutoNum type="arabicPeriod" startAt="2"/>
            </a:pPr>
            <a:r>
              <a:rPr lang="en-US" sz="83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弹簧恢复力：</a:t>
            </a: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050" i="1" dirty="0">
                <a:solidFill>
                  <a:srgbClr val="33333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F_k = -k(y + y_{st})</a:t>
            </a:r>
            <a:endParaRPr lang="en-US" sz="835" dirty="0"/>
          </a:p>
        </p:txBody>
      </p:sp>
      <p:sp>
        <p:nvSpPr>
          <p:cNvPr id="20" name="Text 17"/>
          <p:cNvSpPr/>
          <p:nvPr/>
        </p:nvSpPr>
        <p:spPr>
          <a:xfrm>
            <a:off x="857250" y="12201525"/>
            <a:ext cx="814388" cy="5786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1400"/>
              </a:lnSpc>
              <a:buSzPct val="100000"/>
              <a:buFont typeface="+mj-lt"/>
              <a:buAutoNum type="arabicPeriod" startAt="3"/>
            </a:pPr>
            <a:r>
              <a:rPr lang="en-US" sz="83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电磁阻尼力：</a:t>
            </a: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050" i="1" dirty="0">
                <a:solidFill>
                  <a:srgbClr val="33333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F_d</a:t>
            </a: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（方向与速度相反）</a:t>
            </a:r>
            <a:endParaRPr lang="en-US" sz="835" dirty="0"/>
          </a:p>
        </p:txBody>
      </p:sp>
      <p:sp>
        <p:nvSpPr>
          <p:cNvPr id="21" name="Shape 18"/>
          <p:cNvSpPr/>
          <p:nvPr/>
        </p:nvSpPr>
        <p:spPr>
          <a:xfrm>
            <a:off x="2028825" y="1143000"/>
            <a:ext cx="29766109" cy="2862858"/>
          </a:xfrm>
          <a:prstGeom prst="rect">
            <a:avLst/>
          </a:prstGeom>
          <a:solidFill>
            <a:srgbClr val="FFFFFF"/>
          </a:solidFill>
          <a:ln w="9144">
            <a:solidFill>
              <a:srgbClr val="D1D1D1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263" y="1214438"/>
            <a:ext cx="29608946" cy="2500313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100263" y="3784402"/>
            <a:ext cx="2960894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25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图 2：磁铁受力分析示意图</a:t>
            </a:r>
            <a:endParaRPr lang="en-US" sz="725" dirty="0"/>
          </a:p>
        </p:txBody>
      </p:sp>
      <p:sp>
        <p:nvSpPr>
          <p:cNvPr id="24" name="Shape 20"/>
          <p:cNvSpPr/>
          <p:nvPr/>
        </p:nvSpPr>
        <p:spPr>
          <a:xfrm>
            <a:off x="1878806" y="4098727"/>
            <a:ext cx="30051859" cy="973336"/>
          </a:xfrm>
          <a:prstGeom prst="rect">
            <a:avLst/>
          </a:prstGeom>
          <a:solidFill>
            <a:srgbClr val="F0F2F5"/>
          </a:solidFill>
          <a:ln w="9144">
            <a:solidFill>
              <a:srgbClr val="00336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6479682" y="4334470"/>
            <a:ext cx="850106" cy="1660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初始运动方程：</a:t>
            </a:r>
            <a:endParaRPr lang="en-US" sz="835" dirty="0"/>
          </a:p>
        </p:txBody>
      </p:sp>
      <p:sp>
        <p:nvSpPr>
          <p:cNvPr id="26" name="Text 22"/>
          <p:cNvSpPr/>
          <p:nvPr/>
        </p:nvSpPr>
        <p:spPr>
          <a:xfrm>
            <a:off x="2028825" y="4580930"/>
            <a:ext cx="29751821" cy="19823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70" i="1" dirty="0">
                <a:solidFill>
                  <a:srgbClr val="33333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 · d²y/dt² = mg - k(y₀ + x) + F_d</a:t>
            </a:r>
            <a:endParaRPr lang="en-US" sz="1270" dirty="0"/>
          </a:p>
        </p:txBody>
      </p:sp>
      <p:sp>
        <p:nvSpPr>
          <p:cNvPr id="27" name="Text 23"/>
          <p:cNvSpPr/>
          <p:nvPr/>
        </p:nvSpPr>
        <p:spPr>
          <a:xfrm>
            <a:off x="2028825" y="4850606"/>
            <a:ext cx="29751821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25" dirty="0">
                <a:solidFill>
                  <a:srgbClr val="0033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代入平衡条件 ky₀ = mg 简化模型</a:t>
            </a:r>
            <a:endParaRPr lang="en-US" sz="7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求解运动学方程：线性近似模型与阻尼比分析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28625" y="1071563"/>
            <a:ext cx="4036219" cy="228600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33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线性近似下的运动方程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428625" y="1493044"/>
            <a:ext cx="4036219" cy="3886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在小振幅假设下，电磁阻尼力可近似为与速度成正比的线性项，代入得到标准二阶常微分方程：</a:t>
            </a:r>
            <a:endParaRPr lang="en-US" sz="890" dirty="0"/>
          </a:p>
        </p:txBody>
      </p:sp>
      <p:sp>
        <p:nvSpPr>
          <p:cNvPr id="7" name="Shape 4"/>
          <p:cNvSpPr/>
          <p:nvPr/>
        </p:nvSpPr>
        <p:spPr>
          <a:xfrm>
            <a:off x="428625" y="1938803"/>
            <a:ext cx="4036219" cy="1042988"/>
          </a:xfrm>
          <a:prstGeom prst="rect">
            <a:avLst/>
          </a:prstGeom>
          <a:solidFill>
            <a:srgbClr val="FFFFFF"/>
          </a:solidFill>
          <a:ln w="9144">
            <a:solidFill>
              <a:srgbClr val="0033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7757" y="2360563"/>
            <a:ext cx="461107" cy="22145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485" i="1" dirty="0">
                <a:solidFill>
                  <a:srgbClr val="1A1A1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 · (d</a:t>
            </a:r>
            <a:endParaRPr lang="en-US" sz="1485" dirty="0"/>
          </a:p>
        </p:txBody>
      </p:sp>
      <p:sp>
        <p:nvSpPr>
          <p:cNvPr id="9" name="Text 6"/>
          <p:cNvSpPr/>
          <p:nvPr/>
        </p:nvSpPr>
        <p:spPr>
          <a:xfrm>
            <a:off x="1088864" y="2322472"/>
            <a:ext cx="83353" cy="1839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30" i="1" baseline="30000" dirty="0">
                <a:solidFill>
                  <a:srgbClr val="1A1A1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</a:t>
            </a:r>
            <a:endParaRPr lang="en-US" sz="1230" dirty="0"/>
          </a:p>
        </p:txBody>
      </p:sp>
      <p:sp>
        <p:nvSpPr>
          <p:cNvPr id="10" name="Text 7"/>
          <p:cNvSpPr/>
          <p:nvPr/>
        </p:nvSpPr>
        <p:spPr>
          <a:xfrm>
            <a:off x="1172217" y="2360563"/>
            <a:ext cx="399966" cy="22145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485" i="1" dirty="0">
                <a:solidFill>
                  <a:srgbClr val="1A1A1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y / dt</a:t>
            </a:r>
            <a:endParaRPr lang="en-US" sz="1485" dirty="0"/>
          </a:p>
        </p:txBody>
      </p:sp>
      <p:sp>
        <p:nvSpPr>
          <p:cNvPr id="11" name="Text 8"/>
          <p:cNvSpPr/>
          <p:nvPr/>
        </p:nvSpPr>
        <p:spPr>
          <a:xfrm>
            <a:off x="1572183" y="2322472"/>
            <a:ext cx="83353" cy="1839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30" i="1" baseline="30000" dirty="0">
                <a:solidFill>
                  <a:srgbClr val="1A1A1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</a:t>
            </a:r>
            <a:endParaRPr lang="en-US" sz="1230" dirty="0"/>
          </a:p>
        </p:txBody>
      </p:sp>
      <p:sp>
        <p:nvSpPr>
          <p:cNvPr id="12" name="Text 9"/>
          <p:cNvSpPr/>
          <p:nvPr/>
        </p:nvSpPr>
        <p:spPr>
          <a:xfrm>
            <a:off x="1655536" y="2360563"/>
            <a:ext cx="501625" cy="22145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485" i="1" dirty="0">
                <a:solidFill>
                  <a:srgbClr val="1A1A1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) + (K</a:t>
            </a:r>
            <a:endParaRPr lang="en-US" sz="1485" dirty="0"/>
          </a:p>
        </p:txBody>
      </p:sp>
      <p:sp>
        <p:nvSpPr>
          <p:cNvPr id="13" name="Text 10"/>
          <p:cNvSpPr/>
          <p:nvPr/>
        </p:nvSpPr>
        <p:spPr>
          <a:xfrm>
            <a:off x="2157161" y="2322472"/>
            <a:ext cx="83353" cy="1839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30" i="1" baseline="30000" dirty="0">
                <a:solidFill>
                  <a:srgbClr val="1A1A1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</a:t>
            </a:r>
            <a:endParaRPr lang="en-US" sz="1230" dirty="0"/>
          </a:p>
        </p:txBody>
      </p:sp>
      <p:sp>
        <p:nvSpPr>
          <p:cNvPr id="14" name="Text 11"/>
          <p:cNvSpPr/>
          <p:nvPr/>
        </p:nvSpPr>
        <p:spPr>
          <a:xfrm>
            <a:off x="2240514" y="2360563"/>
            <a:ext cx="2025169" cy="22145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485" i="1" dirty="0">
                <a:solidFill>
                  <a:srgbClr val="1A1A1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/ R) · (dy / dt) + k · y = 0</a:t>
            </a:r>
            <a:endParaRPr lang="en-US" sz="1485" dirty="0"/>
          </a:p>
        </p:txBody>
      </p:sp>
      <p:sp>
        <p:nvSpPr>
          <p:cNvPr id="15" name="Text 12"/>
          <p:cNvSpPr/>
          <p:nvPr/>
        </p:nvSpPr>
        <p:spPr>
          <a:xfrm>
            <a:off x="428625" y="3074659"/>
            <a:ext cx="4036219" cy="228600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33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阻尼比 ζ 的定义</a:t>
            </a:r>
            <a:endParaRPr lang="en-US" sz="1090" dirty="0"/>
          </a:p>
        </p:txBody>
      </p:sp>
      <p:sp>
        <p:nvSpPr>
          <p:cNvPr id="16" name="Text 13"/>
          <p:cNvSpPr/>
          <p:nvPr/>
        </p:nvSpPr>
        <p:spPr>
          <a:xfrm>
            <a:off x="428625" y="3496140"/>
            <a:ext cx="4036219" cy="19430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引入无量纲阻尼比以表征系统的衰减特性：</a:t>
            </a:r>
            <a:endParaRPr lang="en-US" sz="890" dirty="0"/>
          </a:p>
        </p:txBody>
      </p:sp>
      <p:sp>
        <p:nvSpPr>
          <p:cNvPr id="17" name="Shape 14"/>
          <p:cNvSpPr/>
          <p:nvPr/>
        </p:nvSpPr>
        <p:spPr>
          <a:xfrm>
            <a:off x="428625" y="3747595"/>
            <a:ext cx="4036219" cy="1042988"/>
          </a:xfrm>
          <a:prstGeom prst="rect">
            <a:avLst/>
          </a:prstGeom>
          <a:solidFill>
            <a:srgbClr val="FFFFFF"/>
          </a:solidFill>
          <a:ln w="9144">
            <a:solidFill>
              <a:srgbClr val="0033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25544" y="4169355"/>
            <a:ext cx="1504987" cy="22145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485" i="1" dirty="0">
                <a:solidFill>
                  <a:srgbClr val="1A1A1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ζ = c / (2√mk) = K</a:t>
            </a:r>
            <a:endParaRPr lang="en-US" sz="1485" dirty="0"/>
          </a:p>
        </p:txBody>
      </p:sp>
      <p:sp>
        <p:nvSpPr>
          <p:cNvPr id="19" name="Text 16"/>
          <p:cNvSpPr/>
          <p:nvPr/>
        </p:nvSpPr>
        <p:spPr>
          <a:xfrm>
            <a:off x="2730531" y="4131264"/>
            <a:ext cx="83353" cy="1839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30" i="1" baseline="30000" dirty="0">
                <a:solidFill>
                  <a:srgbClr val="1A1A1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</a:t>
            </a:r>
            <a:endParaRPr lang="en-US" sz="1230" dirty="0"/>
          </a:p>
        </p:txBody>
      </p:sp>
      <p:sp>
        <p:nvSpPr>
          <p:cNvPr id="20" name="Text 17"/>
          <p:cNvSpPr/>
          <p:nvPr/>
        </p:nvSpPr>
        <p:spPr>
          <a:xfrm>
            <a:off x="2813884" y="4169355"/>
            <a:ext cx="854013" cy="22145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485" i="1" dirty="0">
                <a:solidFill>
                  <a:srgbClr val="1A1A1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/ (2R√mk)</a:t>
            </a:r>
            <a:endParaRPr lang="en-US" sz="1485" dirty="0"/>
          </a:p>
        </p:txBody>
      </p:sp>
      <p:sp>
        <p:nvSpPr>
          <p:cNvPr id="21" name="Text 18"/>
          <p:cNvSpPr/>
          <p:nvPr/>
        </p:nvSpPr>
        <p:spPr>
          <a:xfrm>
            <a:off x="4679156" y="1071563"/>
            <a:ext cx="4036219" cy="228600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33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阻尼状态分类与物理意义</a:t>
            </a:r>
            <a:endParaRPr lang="en-US" sz="1090" dirty="0"/>
          </a:p>
        </p:txBody>
      </p:sp>
      <p:sp>
        <p:nvSpPr>
          <p:cNvPr id="22" name="Shape 19"/>
          <p:cNvSpPr/>
          <p:nvPr/>
        </p:nvSpPr>
        <p:spPr>
          <a:xfrm>
            <a:off x="4679156" y="1371600"/>
            <a:ext cx="4036219" cy="1368028"/>
          </a:xfrm>
          <a:prstGeom prst="rect">
            <a:avLst/>
          </a:prstGeom>
          <a:solidFill>
            <a:srgbClr val="F0F4F8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22031" y="1443038"/>
            <a:ext cx="857250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8B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ζ &lt; 1 : 欠阻尼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5679281" y="1443038"/>
            <a:ext cx="2489597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发生往复振荡，振幅随时间指数衰减（常见）。</a:t>
            </a:r>
            <a:endParaRPr lang="en-US" sz="890" dirty="0"/>
          </a:p>
        </p:txBody>
      </p:sp>
      <p:sp>
        <p:nvSpPr>
          <p:cNvPr id="25" name="Text 22"/>
          <p:cNvSpPr/>
          <p:nvPr/>
        </p:nvSpPr>
        <p:spPr>
          <a:xfrm>
            <a:off x="4822031" y="1701998"/>
            <a:ext cx="892969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8B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ζ = 1 : 临界阻尼</a:t>
            </a:r>
            <a:endParaRPr lang="en-US" sz="885" dirty="0"/>
          </a:p>
        </p:txBody>
      </p:sp>
      <p:sp>
        <p:nvSpPr>
          <p:cNvPr id="26" name="Text 23"/>
          <p:cNvSpPr/>
          <p:nvPr/>
        </p:nvSpPr>
        <p:spPr>
          <a:xfrm>
            <a:off x="5715000" y="1701998"/>
            <a:ext cx="2428875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无振荡，最快速返回平衡，常用于精密设计。</a:t>
            </a:r>
            <a:endParaRPr lang="en-US" sz="890" dirty="0"/>
          </a:p>
        </p:txBody>
      </p:sp>
      <p:sp>
        <p:nvSpPr>
          <p:cNvPr id="27" name="Text 24"/>
          <p:cNvSpPr/>
          <p:nvPr/>
        </p:nvSpPr>
        <p:spPr>
          <a:xfrm>
            <a:off x="4822031" y="1960959"/>
            <a:ext cx="857250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8B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ζ &gt; 1 : 过阻尼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5679281" y="1960959"/>
            <a:ext cx="2893219" cy="3643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阻力大，缓慢无振荡地趋近平衡，适用于高稳定性场合。</a:t>
            </a:r>
            <a:endParaRPr lang="en-US" sz="890" dirty="0"/>
          </a:p>
        </p:txBody>
      </p:sp>
      <p:sp>
        <p:nvSpPr>
          <p:cNvPr id="29" name="Text 26"/>
          <p:cNvSpPr/>
          <p:nvPr/>
        </p:nvSpPr>
        <p:spPr>
          <a:xfrm>
            <a:off x="4822031" y="2411016"/>
            <a:ext cx="3750469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i="1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 结论：阻尼比 ζ 决定能量耗散速率与运动特性。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理论推导与非线性修正：磁通量梯度的非线性本质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28625" y="1085850"/>
            <a:ext cx="2714625" cy="654323"/>
          </a:xfrm>
          <a:prstGeom prst="rect">
            <a:avLst/>
          </a:prstGeom>
          <a:solidFill>
            <a:srgbClr val="FFFFFF"/>
          </a:solidFill>
          <a:ln w="9144">
            <a:solidFill>
              <a:srgbClr val="00336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28638" y="1185863"/>
            <a:ext cx="2514600" cy="4400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0033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磁通量 Φ 与磁铁位移 y 真的是成正比吗？还是仅为正相关？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3286125" y="1085850"/>
            <a:ext cx="5429250" cy="248245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0033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磁场分布模型 (Magnetic Field Model)</a:t>
            </a:r>
            <a:endParaRPr lang="en-US" sz="1195" dirty="0"/>
          </a:p>
        </p:txBody>
      </p:sp>
      <p:sp>
        <p:nvSpPr>
          <p:cNvPr id="8" name="Shape 5"/>
          <p:cNvSpPr/>
          <p:nvPr/>
        </p:nvSpPr>
        <p:spPr>
          <a:xfrm>
            <a:off x="3286125" y="1419820"/>
            <a:ext cx="5429250" cy="219756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71850" y="1643063"/>
            <a:ext cx="676870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对于长度为</a:t>
            </a:r>
            <a:endParaRPr lang="en-US" sz="940" dirty="0"/>
          </a:p>
        </p:txBody>
      </p:sp>
      <p:sp>
        <p:nvSpPr>
          <p:cNvPr id="10" name="Text 7"/>
          <p:cNvSpPr/>
          <p:nvPr/>
        </p:nvSpPr>
        <p:spPr>
          <a:xfrm>
            <a:off x="4048720" y="1643063"/>
            <a:ext cx="67866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8B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4116586" y="1643063"/>
            <a:ext cx="805458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、磁化强度为</a:t>
            </a:r>
            <a:endParaRPr lang="en-US" sz="940" dirty="0"/>
          </a:p>
        </p:txBody>
      </p:sp>
      <p:sp>
        <p:nvSpPr>
          <p:cNvPr id="12" name="Text 9"/>
          <p:cNvSpPr/>
          <p:nvPr/>
        </p:nvSpPr>
        <p:spPr>
          <a:xfrm>
            <a:off x="4922044" y="1643063"/>
            <a:ext cx="116086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8B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5038130" y="1643063"/>
            <a:ext cx="1739503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的条形磁铁，其轴向磁场分布</a:t>
            </a:r>
            <a:endParaRPr lang="en-US" sz="940" dirty="0"/>
          </a:p>
        </p:txBody>
      </p:sp>
      <p:sp>
        <p:nvSpPr>
          <p:cNvPr id="14" name="Text 11"/>
          <p:cNvSpPr/>
          <p:nvPr/>
        </p:nvSpPr>
        <p:spPr>
          <a:xfrm>
            <a:off x="6777633" y="1643063"/>
            <a:ext cx="83939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8B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6861572" y="1693766"/>
            <a:ext cx="50006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5" b="1" baseline="-40000" dirty="0">
                <a:solidFill>
                  <a:srgbClr val="8B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</a:t>
            </a:r>
            <a:endParaRPr lang="en-US" sz="735" dirty="0"/>
          </a:p>
        </p:txBody>
      </p:sp>
      <p:sp>
        <p:nvSpPr>
          <p:cNvPr id="16" name="Text 13"/>
          <p:cNvSpPr/>
          <p:nvPr/>
        </p:nvSpPr>
        <p:spPr>
          <a:xfrm>
            <a:off x="6911578" y="1643063"/>
            <a:ext cx="135731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8B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(z)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7047309" y="1643063"/>
            <a:ext cx="1448395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可由等效磁荷模型精确描</a:t>
            </a:r>
            <a:endParaRPr lang="en-US" sz="940" dirty="0"/>
          </a:p>
        </p:txBody>
      </p:sp>
      <p:sp>
        <p:nvSpPr>
          <p:cNvPr id="18" name="Text 15"/>
          <p:cNvSpPr/>
          <p:nvPr/>
        </p:nvSpPr>
        <p:spPr>
          <a:xfrm>
            <a:off x="3371850" y="1856287"/>
            <a:ext cx="257175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述：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3371850" y="2125963"/>
            <a:ext cx="5257800" cy="659206"/>
          </a:xfrm>
          <a:prstGeom prst="rect">
            <a:avLst/>
          </a:prstGeom>
          <a:solidFill>
            <a:srgbClr val="F1F3F5"/>
          </a:solidFill>
          <a:ln w="9144">
            <a:solidFill>
              <a:srgbClr val="003366"/>
            </a:solidFill>
            <a:prstDash val="dash"/>
          </a:ln>
        </p:spPr>
      </p:sp>
      <p:sp>
        <p:nvSpPr>
          <p:cNvPr id="20" name="Text 17"/>
          <p:cNvSpPr/>
          <p:nvPr/>
        </p:nvSpPr>
        <p:spPr>
          <a:xfrm>
            <a:off x="3887791" y="2223576"/>
            <a:ext cx="123899" cy="2053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75" dirty="0">
                <a:solidFill>
                  <a:srgbClr val="1A1A1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</a:t>
            </a:r>
            <a:endParaRPr lang="en-US" sz="1375" dirty="0"/>
          </a:p>
        </p:txBody>
      </p:sp>
      <p:sp>
        <p:nvSpPr>
          <p:cNvPr id="21" name="Text 18"/>
          <p:cNvSpPr/>
          <p:nvPr/>
        </p:nvSpPr>
        <p:spPr>
          <a:xfrm>
            <a:off x="4011690" y="2289293"/>
            <a:ext cx="68703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40" baseline="-40000" dirty="0">
                <a:solidFill>
                  <a:srgbClr val="1A1A1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z</a:t>
            </a:r>
            <a:endParaRPr lang="en-US" sz="1140" dirty="0"/>
          </a:p>
        </p:txBody>
      </p:sp>
      <p:sp>
        <p:nvSpPr>
          <p:cNvPr id="22" name="Text 19"/>
          <p:cNvSpPr/>
          <p:nvPr/>
        </p:nvSpPr>
        <p:spPr>
          <a:xfrm>
            <a:off x="4080393" y="2223576"/>
            <a:ext cx="503355" cy="2053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75" dirty="0">
                <a:solidFill>
                  <a:srgbClr val="1A1A1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(z) = μ</a:t>
            </a:r>
            <a:endParaRPr lang="en-US" sz="1375" dirty="0"/>
          </a:p>
        </p:txBody>
      </p:sp>
      <p:sp>
        <p:nvSpPr>
          <p:cNvPr id="23" name="Text 20"/>
          <p:cNvSpPr/>
          <p:nvPr/>
        </p:nvSpPr>
        <p:spPr>
          <a:xfrm>
            <a:off x="4583748" y="2289293"/>
            <a:ext cx="77381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40" baseline="-40000" dirty="0">
                <a:solidFill>
                  <a:srgbClr val="1A1A1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</a:t>
            </a:r>
            <a:endParaRPr lang="en-US" sz="1140" dirty="0"/>
          </a:p>
        </p:txBody>
      </p:sp>
      <p:sp>
        <p:nvSpPr>
          <p:cNvPr id="24" name="Text 21"/>
          <p:cNvSpPr/>
          <p:nvPr/>
        </p:nvSpPr>
        <p:spPr>
          <a:xfrm>
            <a:off x="4661129" y="2223576"/>
            <a:ext cx="1809238" cy="2053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75" dirty="0">
                <a:solidFill>
                  <a:srgbClr val="1A1A1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M/4π [ (z+L/2)/((z+L/2)</a:t>
            </a:r>
            <a:endParaRPr lang="en-US" sz="1375" dirty="0"/>
          </a:p>
        </p:txBody>
      </p:sp>
      <p:sp>
        <p:nvSpPr>
          <p:cNvPr id="25" name="Text 22"/>
          <p:cNvSpPr/>
          <p:nvPr/>
        </p:nvSpPr>
        <p:spPr>
          <a:xfrm>
            <a:off x="6470368" y="2186685"/>
            <a:ext cx="77381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40" baseline="30000" dirty="0">
                <a:solidFill>
                  <a:srgbClr val="1A1A1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</a:t>
            </a:r>
            <a:endParaRPr lang="en-US" sz="1140" dirty="0"/>
          </a:p>
        </p:txBody>
      </p:sp>
      <p:sp>
        <p:nvSpPr>
          <p:cNvPr id="26" name="Text 23"/>
          <p:cNvSpPr/>
          <p:nvPr/>
        </p:nvSpPr>
        <p:spPr>
          <a:xfrm>
            <a:off x="6547749" y="2223576"/>
            <a:ext cx="228656" cy="2053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75" dirty="0">
                <a:solidFill>
                  <a:srgbClr val="1A1A1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+R</a:t>
            </a:r>
            <a:endParaRPr lang="en-US" sz="1375" dirty="0"/>
          </a:p>
        </p:txBody>
      </p:sp>
      <p:sp>
        <p:nvSpPr>
          <p:cNvPr id="27" name="Text 24"/>
          <p:cNvSpPr/>
          <p:nvPr/>
        </p:nvSpPr>
        <p:spPr>
          <a:xfrm>
            <a:off x="6776405" y="2186685"/>
            <a:ext cx="77381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40" baseline="30000" dirty="0">
                <a:solidFill>
                  <a:srgbClr val="1A1A1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</a:t>
            </a:r>
            <a:endParaRPr lang="en-US" sz="1140" dirty="0"/>
          </a:p>
        </p:txBody>
      </p:sp>
      <p:sp>
        <p:nvSpPr>
          <p:cNvPr id="28" name="Text 25"/>
          <p:cNvSpPr/>
          <p:nvPr/>
        </p:nvSpPr>
        <p:spPr>
          <a:xfrm>
            <a:off x="6853786" y="2223576"/>
            <a:ext cx="61866" cy="2053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75" dirty="0">
                <a:solidFill>
                  <a:srgbClr val="1A1A1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)</a:t>
            </a:r>
            <a:endParaRPr lang="en-US" sz="1375" dirty="0"/>
          </a:p>
        </p:txBody>
      </p:sp>
      <p:sp>
        <p:nvSpPr>
          <p:cNvPr id="29" name="Text 26"/>
          <p:cNvSpPr/>
          <p:nvPr/>
        </p:nvSpPr>
        <p:spPr>
          <a:xfrm>
            <a:off x="6915652" y="2186685"/>
            <a:ext cx="197765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40" baseline="30000" dirty="0">
                <a:solidFill>
                  <a:srgbClr val="1A1A1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3/2</a:t>
            </a:r>
            <a:endParaRPr lang="en-US" sz="1140" dirty="0"/>
          </a:p>
        </p:txBody>
      </p:sp>
      <p:sp>
        <p:nvSpPr>
          <p:cNvPr id="30" name="Text 27"/>
          <p:cNvSpPr/>
          <p:nvPr/>
        </p:nvSpPr>
        <p:spPr>
          <a:xfrm>
            <a:off x="7113417" y="2223576"/>
            <a:ext cx="1000265" cy="2053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75" dirty="0">
                <a:solidFill>
                  <a:srgbClr val="1A1A1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- (z-L/2)/((z-</a:t>
            </a:r>
            <a:endParaRPr lang="en-US" sz="1375" dirty="0"/>
          </a:p>
        </p:txBody>
      </p:sp>
      <p:sp>
        <p:nvSpPr>
          <p:cNvPr id="31" name="Text 28"/>
          <p:cNvSpPr/>
          <p:nvPr/>
        </p:nvSpPr>
        <p:spPr>
          <a:xfrm>
            <a:off x="5465164" y="2504777"/>
            <a:ext cx="319794" cy="2053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75" dirty="0">
                <a:solidFill>
                  <a:srgbClr val="1A1A1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L/2)</a:t>
            </a:r>
            <a:endParaRPr lang="en-US" sz="1375" dirty="0"/>
          </a:p>
        </p:txBody>
      </p:sp>
      <p:sp>
        <p:nvSpPr>
          <p:cNvPr id="32" name="Text 29"/>
          <p:cNvSpPr/>
          <p:nvPr/>
        </p:nvSpPr>
        <p:spPr>
          <a:xfrm>
            <a:off x="5784959" y="2467887"/>
            <a:ext cx="77381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40" baseline="30000" dirty="0">
                <a:solidFill>
                  <a:srgbClr val="1A1A1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</a:t>
            </a:r>
            <a:endParaRPr lang="en-US" sz="1140" dirty="0"/>
          </a:p>
        </p:txBody>
      </p:sp>
      <p:sp>
        <p:nvSpPr>
          <p:cNvPr id="33" name="Text 30"/>
          <p:cNvSpPr/>
          <p:nvPr/>
        </p:nvSpPr>
        <p:spPr>
          <a:xfrm>
            <a:off x="5862340" y="2504777"/>
            <a:ext cx="228656" cy="2053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75" dirty="0">
                <a:solidFill>
                  <a:srgbClr val="1A1A1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+R</a:t>
            </a:r>
            <a:endParaRPr lang="en-US" sz="1375" dirty="0"/>
          </a:p>
        </p:txBody>
      </p:sp>
      <p:sp>
        <p:nvSpPr>
          <p:cNvPr id="34" name="Text 31"/>
          <p:cNvSpPr/>
          <p:nvPr/>
        </p:nvSpPr>
        <p:spPr>
          <a:xfrm>
            <a:off x="6090996" y="2467887"/>
            <a:ext cx="77381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40" baseline="30000" dirty="0">
                <a:solidFill>
                  <a:srgbClr val="1A1A1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</a:t>
            </a:r>
            <a:endParaRPr lang="en-US" sz="1140" dirty="0"/>
          </a:p>
        </p:txBody>
      </p:sp>
      <p:sp>
        <p:nvSpPr>
          <p:cNvPr id="35" name="Text 32"/>
          <p:cNvSpPr/>
          <p:nvPr/>
        </p:nvSpPr>
        <p:spPr>
          <a:xfrm>
            <a:off x="6168377" y="2504777"/>
            <a:ext cx="61866" cy="2053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75" dirty="0">
                <a:solidFill>
                  <a:srgbClr val="1A1A1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)</a:t>
            </a:r>
            <a:endParaRPr lang="en-US" sz="1375" dirty="0"/>
          </a:p>
        </p:txBody>
      </p:sp>
      <p:sp>
        <p:nvSpPr>
          <p:cNvPr id="36" name="Text 33"/>
          <p:cNvSpPr/>
          <p:nvPr/>
        </p:nvSpPr>
        <p:spPr>
          <a:xfrm>
            <a:off x="6230243" y="2467887"/>
            <a:ext cx="197765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40" baseline="30000" dirty="0">
                <a:solidFill>
                  <a:srgbClr val="1A1A1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3/2</a:t>
            </a:r>
            <a:endParaRPr lang="en-US" sz="1140" dirty="0"/>
          </a:p>
        </p:txBody>
      </p:sp>
      <p:sp>
        <p:nvSpPr>
          <p:cNvPr id="37" name="Text 34"/>
          <p:cNvSpPr/>
          <p:nvPr/>
        </p:nvSpPr>
        <p:spPr>
          <a:xfrm>
            <a:off x="6428008" y="2504777"/>
            <a:ext cx="108300" cy="2053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75" dirty="0">
                <a:solidFill>
                  <a:srgbClr val="1A1A1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]</a:t>
            </a:r>
            <a:endParaRPr lang="en-US" sz="1375" dirty="0"/>
          </a:p>
        </p:txBody>
      </p:sp>
      <p:sp>
        <p:nvSpPr>
          <p:cNvPr id="38" name="Text 35"/>
          <p:cNvSpPr/>
          <p:nvPr/>
        </p:nvSpPr>
        <p:spPr>
          <a:xfrm>
            <a:off x="3371850" y="2856607"/>
            <a:ext cx="2607469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● </a:t>
            </a:r>
            <a:r>
              <a:rPr lang="en-US" sz="88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</a:t>
            </a:r>
            <a:r>
              <a:rPr lang="en-US" sz="94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沿磁铁轴向的坐标 (原点在中心)</a:t>
            </a:r>
            <a:endParaRPr lang="en-US" sz="940" dirty="0"/>
          </a:p>
        </p:txBody>
      </p:sp>
      <p:sp>
        <p:nvSpPr>
          <p:cNvPr id="39" name="Text 36"/>
          <p:cNvSpPr/>
          <p:nvPr/>
        </p:nvSpPr>
        <p:spPr>
          <a:xfrm>
            <a:off x="6022181" y="2856607"/>
            <a:ext cx="2607469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● </a:t>
            </a:r>
            <a:r>
              <a:rPr lang="en-US" sz="88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</a:t>
            </a:r>
            <a:r>
              <a:rPr lang="en-US" sz="94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磁铁半径</a:t>
            </a:r>
            <a:endParaRPr lang="en-US" sz="940" dirty="0"/>
          </a:p>
        </p:txBody>
      </p:sp>
      <p:sp>
        <p:nvSpPr>
          <p:cNvPr id="40" name="Text 37"/>
          <p:cNvSpPr/>
          <p:nvPr/>
        </p:nvSpPr>
        <p:spPr>
          <a:xfrm>
            <a:off x="3371850" y="3079486"/>
            <a:ext cx="2607469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● </a:t>
            </a:r>
            <a:r>
              <a:rPr lang="en-US" sz="88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</a:t>
            </a:r>
            <a:r>
              <a:rPr lang="en-US" sz="94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磁铁长度</a:t>
            </a:r>
            <a:endParaRPr lang="en-US" sz="940" dirty="0"/>
          </a:p>
        </p:txBody>
      </p:sp>
      <p:sp>
        <p:nvSpPr>
          <p:cNvPr id="41" name="Text 38"/>
          <p:cNvSpPr/>
          <p:nvPr/>
        </p:nvSpPr>
        <p:spPr>
          <a:xfrm>
            <a:off x="6022181" y="3079486"/>
            <a:ext cx="2607469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● </a:t>
            </a:r>
            <a:r>
              <a:rPr lang="en-US" sz="88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</a:t>
            </a:r>
            <a:r>
              <a:rPr lang="en-US" sz="94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磁化强度</a:t>
            </a:r>
            <a:endParaRPr lang="en-US" sz="940" dirty="0"/>
          </a:p>
        </p:txBody>
      </p:sp>
      <p:sp>
        <p:nvSpPr>
          <p:cNvPr id="42" name="Text 39"/>
          <p:cNvSpPr/>
          <p:nvPr/>
        </p:nvSpPr>
        <p:spPr>
          <a:xfrm>
            <a:off x="3371850" y="3304152"/>
            <a:ext cx="111621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●</a:t>
            </a:r>
            <a:endParaRPr lang="en-US" sz="940" dirty="0"/>
          </a:p>
        </p:txBody>
      </p:sp>
      <p:sp>
        <p:nvSpPr>
          <p:cNvPr id="43" name="Text 40"/>
          <p:cNvSpPr/>
          <p:nvPr/>
        </p:nvSpPr>
        <p:spPr>
          <a:xfrm>
            <a:off x="3483471" y="3304152"/>
            <a:ext cx="80367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μ</a:t>
            </a:r>
            <a:endParaRPr lang="en-US" sz="885" dirty="0"/>
          </a:p>
        </p:txBody>
      </p:sp>
      <p:sp>
        <p:nvSpPr>
          <p:cNvPr id="44" name="Text 41"/>
          <p:cNvSpPr/>
          <p:nvPr/>
        </p:nvSpPr>
        <p:spPr>
          <a:xfrm>
            <a:off x="3563838" y="3354856"/>
            <a:ext cx="60722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5" b="1" baseline="-40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735" dirty="0"/>
          </a:p>
        </p:txBody>
      </p:sp>
      <p:sp>
        <p:nvSpPr>
          <p:cNvPr id="45" name="Text 42"/>
          <p:cNvSpPr/>
          <p:nvPr/>
        </p:nvSpPr>
        <p:spPr>
          <a:xfrm>
            <a:off x="3624560" y="3304152"/>
            <a:ext cx="710803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真空磁导率</a:t>
            </a:r>
            <a:endParaRPr lang="en-US" sz="940" dirty="0"/>
          </a:p>
        </p:txBody>
      </p:sp>
      <p:sp>
        <p:nvSpPr>
          <p:cNvPr id="46" name="Text 43"/>
          <p:cNvSpPr/>
          <p:nvPr/>
        </p:nvSpPr>
        <p:spPr>
          <a:xfrm>
            <a:off x="3286125" y="3674539"/>
            <a:ext cx="5429250" cy="248245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0033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核心洞察</a:t>
            </a:r>
            <a:endParaRPr lang="en-US" sz="1195" dirty="0"/>
          </a:p>
        </p:txBody>
      </p:sp>
      <p:sp>
        <p:nvSpPr>
          <p:cNvPr id="47" name="Shape 44"/>
          <p:cNvSpPr/>
          <p:nvPr/>
        </p:nvSpPr>
        <p:spPr>
          <a:xfrm>
            <a:off x="3286125" y="4008509"/>
            <a:ext cx="5429250" cy="706143"/>
          </a:xfrm>
          <a:prstGeom prst="rect">
            <a:avLst/>
          </a:prstGeom>
          <a:solidFill>
            <a:srgbClr val="FFF9F9"/>
          </a:solidFill>
          <a:ln w="9144">
            <a:solidFill>
              <a:srgbClr val="FFC1C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371850" y="4160314"/>
            <a:ext cx="4757738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通过对磁场分布的精细建模，我们发现磁通量梯度在空间上并非均匀分布。这意味着</a:t>
            </a:r>
            <a:endParaRPr lang="en-US" sz="940" dirty="0"/>
          </a:p>
        </p:txBody>
      </p:sp>
      <p:sp>
        <p:nvSpPr>
          <p:cNvPr id="49" name="Text 46"/>
          <p:cNvSpPr/>
          <p:nvPr/>
        </p:nvSpPr>
        <p:spPr>
          <a:xfrm>
            <a:off x="3371850" y="4160314"/>
            <a:ext cx="5143500" cy="3679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阻尼力 F</a:t>
            </a:r>
            <a:endParaRPr lang="en-US" sz="885" dirty="0"/>
          </a:p>
        </p:txBody>
      </p:sp>
      <p:sp>
        <p:nvSpPr>
          <p:cNvPr id="50" name="Text 47"/>
          <p:cNvSpPr/>
          <p:nvPr/>
        </p:nvSpPr>
        <p:spPr>
          <a:xfrm>
            <a:off x="3437930" y="4403899"/>
            <a:ext cx="6608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5" b="1" baseline="-40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</a:t>
            </a:r>
            <a:endParaRPr lang="en-US" sz="735" dirty="0"/>
          </a:p>
        </p:txBody>
      </p:sp>
      <p:sp>
        <p:nvSpPr>
          <p:cNvPr id="51" name="Text 48"/>
          <p:cNvSpPr/>
          <p:nvPr/>
        </p:nvSpPr>
        <p:spPr>
          <a:xfrm>
            <a:off x="3504009" y="4353195"/>
            <a:ext cx="1319808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具有显著的位置相关性</a:t>
            </a:r>
            <a:endParaRPr lang="en-US" sz="885" dirty="0"/>
          </a:p>
        </p:txBody>
      </p:sp>
      <p:sp>
        <p:nvSpPr>
          <p:cNvPr id="52" name="Text 49"/>
          <p:cNvSpPr/>
          <p:nvPr/>
        </p:nvSpPr>
        <p:spPr>
          <a:xfrm>
            <a:off x="4823817" y="4353195"/>
            <a:ext cx="3086100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，这正是导致系统呈现非线性动力学行为的物理根源。</a:t>
            </a:r>
            <a:endParaRPr lang="en-US" sz="9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非线性阻尼特性：位置相关性分析与方程修正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28625" y="1214438"/>
            <a:ext cx="4403145" cy="228600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33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磁通量梯度的空间分布分析</a:t>
            </a:r>
            <a:endParaRPr lang="en-US" sz="1090" dirty="0"/>
          </a:p>
        </p:txBody>
      </p:sp>
      <p:sp>
        <p:nvSpPr>
          <p:cNvPr id="6" name="Shape 3"/>
          <p:cNvSpPr/>
          <p:nvPr/>
        </p:nvSpPr>
        <p:spPr>
          <a:xfrm>
            <a:off x="428625" y="1550194"/>
            <a:ext cx="4403145" cy="1262993"/>
          </a:xfrm>
          <a:prstGeom prst="rect">
            <a:avLst/>
          </a:prstGeom>
          <a:solidFill>
            <a:srgbClr val="FFFFFF"/>
          </a:solidFill>
          <a:ln w="9144">
            <a:solidFill>
              <a:srgbClr val="D1D1D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814513"/>
            <a:ext cx="4117395" cy="3886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3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非线性本质：</a:t>
            </a: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电磁阻尼并非恒定常数，而是一个具有显著</a:t>
            </a:r>
            <a:r>
              <a:rPr lang="en-US" sz="835" b="1" dirty="0">
                <a:solidFill>
                  <a:srgbClr val="8B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位置相关性</a:t>
            </a: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的非线</a:t>
            </a: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性函数。这直接导致了振动衰减过程偏离传统的指数形式。</a:t>
            </a:r>
            <a:endParaRPr lang="en-US" sz="835" dirty="0"/>
          </a:p>
        </p:txBody>
      </p:sp>
      <p:sp>
        <p:nvSpPr>
          <p:cNvPr id="8" name="Text 5"/>
          <p:cNvSpPr/>
          <p:nvPr/>
        </p:nvSpPr>
        <p:spPr>
          <a:xfrm>
            <a:off x="571500" y="2324565"/>
            <a:ext cx="4117395" cy="3886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3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物理意义：</a:t>
            </a: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系统的能量耗散速率取决于瞬时速度和瞬时位置的耦合。传统线</a:t>
            </a: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性模型仅是本模型在平衡位置附近的低阶近似。</a:t>
            </a:r>
            <a:endParaRPr lang="en-US" sz="835" dirty="0"/>
          </a:p>
        </p:txBody>
      </p:sp>
      <p:sp>
        <p:nvSpPr>
          <p:cNvPr id="9" name="Text 6"/>
          <p:cNvSpPr/>
          <p:nvPr/>
        </p:nvSpPr>
        <p:spPr>
          <a:xfrm>
            <a:off x="428625" y="2856049"/>
            <a:ext cx="4403145" cy="228600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33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核心发现：非指数级衰减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428625" y="3191805"/>
            <a:ext cx="4403145" cy="1262993"/>
          </a:xfrm>
          <a:prstGeom prst="rect">
            <a:avLst/>
          </a:prstGeom>
          <a:solidFill>
            <a:srgbClr val="FFFFFF"/>
          </a:solidFill>
          <a:ln w="9144">
            <a:solidFill>
              <a:srgbClr val="D1D1D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3456124"/>
            <a:ext cx="4117395" cy="3886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当初始振幅较大时，磁铁在运动周期内会移出强阻尼区。这导致衰减速率在运动过程中发生突变，而非简单的指数级衰减。</a:t>
            </a:r>
            <a:endParaRPr lang="en-US" sz="890" dirty="0"/>
          </a:p>
        </p:txBody>
      </p:sp>
      <p:sp>
        <p:nvSpPr>
          <p:cNvPr id="12" name="Text 9"/>
          <p:cNvSpPr/>
          <p:nvPr/>
        </p:nvSpPr>
        <p:spPr>
          <a:xfrm>
            <a:off x="571500" y="3966177"/>
            <a:ext cx="4117395" cy="3886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3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模型修正效果：</a:t>
            </a: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考虑位置相关性后，数值模拟与实验曲线的吻合度提升了 </a:t>
            </a:r>
            <a:r>
              <a:rPr lang="en-US" sz="835" b="1" dirty="0">
                <a:solidFill>
                  <a:srgbClr val="8B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15%</a:t>
            </a: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以上。</a:t>
            </a:r>
            <a:endParaRPr lang="en-US" sz="835" dirty="0"/>
          </a:p>
        </p:txBody>
      </p:sp>
      <p:sp>
        <p:nvSpPr>
          <p:cNvPr id="13" name="Shape 10"/>
          <p:cNvSpPr/>
          <p:nvPr/>
        </p:nvSpPr>
        <p:spPr>
          <a:xfrm>
            <a:off x="5046083" y="1214438"/>
            <a:ext cx="3669292" cy="2464594"/>
          </a:xfrm>
          <a:prstGeom prst="rect">
            <a:avLst/>
          </a:prstGeom>
          <a:solidFill>
            <a:srgbClr val="FFFFFF"/>
          </a:solidFill>
          <a:ln w="9144">
            <a:solidFill>
              <a:srgbClr val="D1D1D1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9152" y="1285875"/>
            <a:ext cx="2143125" cy="2143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17520" y="3520083"/>
            <a:ext cx="3526417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5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图 4：磁通量梯度 (dΦ/dy) 随位置的非线性分布</a:t>
            </a:r>
            <a:endParaRPr lang="en-US" sz="725" dirty="0"/>
          </a:p>
        </p:txBody>
      </p:sp>
      <p:sp>
        <p:nvSpPr>
          <p:cNvPr id="16" name="Text 12"/>
          <p:cNvSpPr/>
          <p:nvPr/>
        </p:nvSpPr>
        <p:spPr>
          <a:xfrm>
            <a:off x="5046083" y="3807619"/>
            <a:ext cx="3669292" cy="228600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33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修正后的动力学方程</a:t>
            </a:r>
            <a:endParaRPr lang="en-US" sz="1090" dirty="0"/>
          </a:p>
        </p:txBody>
      </p:sp>
      <p:sp>
        <p:nvSpPr>
          <p:cNvPr id="17" name="Shape 13"/>
          <p:cNvSpPr/>
          <p:nvPr/>
        </p:nvSpPr>
        <p:spPr>
          <a:xfrm>
            <a:off x="5046083" y="4286250"/>
            <a:ext cx="3669292" cy="517922"/>
          </a:xfrm>
          <a:prstGeom prst="rect">
            <a:avLst/>
          </a:prstGeom>
          <a:solidFill>
            <a:srgbClr val="F0F2F5"/>
          </a:solidFill>
          <a:ln w="9144">
            <a:solidFill>
              <a:srgbClr val="00336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399559" y="4396978"/>
            <a:ext cx="2962312" cy="17323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60" dirty="0">
                <a:solidFill>
                  <a:srgbClr val="33333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$$ m\ddot{y} + b_{em}(y)\dot{y} + ky = 0 $$</a:t>
            </a:r>
            <a:endParaRPr lang="en-US" sz="1160" dirty="0"/>
          </a:p>
        </p:txBody>
      </p:sp>
      <p:sp>
        <p:nvSpPr>
          <p:cNvPr id="19" name="Text 15"/>
          <p:cNvSpPr/>
          <p:nvPr/>
        </p:nvSpPr>
        <p:spPr>
          <a:xfrm>
            <a:off x="5153239" y="4645223"/>
            <a:ext cx="3454980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5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注：$b_{em}(y)$ 为位置相关的非线性阻尼系数</a:t>
            </a:r>
            <a:endParaRPr lang="en-US" sz="7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实验验证与参数探究：电阻 R 对阻尼特性的影响分析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85750" y="1143000"/>
            <a:ext cx="4597980" cy="228600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33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实验曲线：不同电阻下的位移响应</a:t>
            </a:r>
            <a:endParaRPr lang="en-US" sz="1090" dirty="0"/>
          </a:p>
        </p:txBody>
      </p:sp>
      <p:sp>
        <p:nvSpPr>
          <p:cNvPr id="6" name="Shape 3"/>
          <p:cNvSpPr/>
          <p:nvPr/>
        </p:nvSpPr>
        <p:spPr>
          <a:xfrm>
            <a:off x="285750" y="1443038"/>
            <a:ext cx="4597980" cy="2650331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351" y="1514475"/>
            <a:ext cx="3714750" cy="2286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68503" y="3857625"/>
            <a:ext cx="243244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25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图 2：不同回路电阻 R 下磁铁运动的位移-时间响应曲线</a:t>
            </a:r>
            <a:endParaRPr lang="en-US" sz="725" dirty="0"/>
          </a:p>
        </p:txBody>
      </p:sp>
      <p:sp>
        <p:nvSpPr>
          <p:cNvPr id="9" name="Text 5"/>
          <p:cNvSpPr/>
          <p:nvPr/>
        </p:nvSpPr>
        <p:spPr>
          <a:xfrm>
            <a:off x="5026605" y="1143000"/>
            <a:ext cx="3831645" cy="228600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33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理论预测</a:t>
            </a:r>
            <a:endParaRPr lang="en-US" sz="1090" dirty="0"/>
          </a:p>
        </p:txBody>
      </p:sp>
      <p:sp>
        <p:nvSpPr>
          <p:cNvPr id="10" name="Shape 6"/>
          <p:cNvSpPr/>
          <p:nvPr/>
        </p:nvSpPr>
        <p:spPr>
          <a:xfrm>
            <a:off x="5026605" y="1443038"/>
            <a:ext cx="3831645" cy="750094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112330" y="1621631"/>
            <a:ext cx="3660195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根据推导公式，阻尼系数与回路总电阻成反比：</a:t>
            </a:r>
            <a:r>
              <a:rPr lang="en-US" sz="835" b="1" dirty="0">
                <a:solidFill>
                  <a:srgbClr val="8B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 ∝ 1/R</a:t>
            </a: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。</a:t>
            </a:r>
            <a:endParaRPr lang="en-US" sz="890" dirty="0"/>
          </a:p>
        </p:txBody>
      </p:sp>
      <p:sp>
        <p:nvSpPr>
          <p:cNvPr id="12" name="Text 8"/>
          <p:cNvSpPr/>
          <p:nvPr/>
        </p:nvSpPr>
        <p:spPr>
          <a:xfrm>
            <a:off x="5112330" y="1925241"/>
            <a:ext cx="3660195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电阻越小，感应电流越大，电磁力产生的阻尼效果应越显著。</a:t>
            </a:r>
            <a:endParaRPr lang="en-US" sz="890" dirty="0"/>
          </a:p>
        </p:txBody>
      </p:sp>
      <p:sp>
        <p:nvSpPr>
          <p:cNvPr id="13" name="Text 9"/>
          <p:cNvSpPr/>
          <p:nvPr/>
        </p:nvSpPr>
        <p:spPr>
          <a:xfrm>
            <a:off x="5026605" y="2193131"/>
            <a:ext cx="3831645" cy="228600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33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图像分析与观察</a:t>
            </a:r>
            <a:endParaRPr lang="en-US" sz="1090" dirty="0"/>
          </a:p>
        </p:txBody>
      </p:sp>
      <p:sp>
        <p:nvSpPr>
          <p:cNvPr id="14" name="Shape 10"/>
          <p:cNvSpPr/>
          <p:nvPr/>
        </p:nvSpPr>
        <p:spPr>
          <a:xfrm>
            <a:off x="5026605" y="2493169"/>
            <a:ext cx="3831645" cy="1114425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12330" y="2671763"/>
            <a:ext cx="3660195" cy="3643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</a:t>
            </a:r>
            <a:r>
              <a:rPr lang="en-US" sz="835" b="1" dirty="0">
                <a:solidFill>
                  <a:srgbClr val="8B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 = 5Ω</a:t>
            </a: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：系统呈现</a:t>
            </a:r>
            <a:r>
              <a:rPr lang="en-US" sz="83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过阻尼状态</a:t>
            </a: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，位移迅速衰减至平衡位置，无任何</a:t>
            </a: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振荡行为。</a:t>
            </a:r>
            <a:endParaRPr lang="en-US" sz="890" dirty="0"/>
          </a:p>
        </p:txBody>
      </p:sp>
      <p:sp>
        <p:nvSpPr>
          <p:cNvPr id="16" name="Text 12"/>
          <p:cNvSpPr/>
          <p:nvPr/>
        </p:nvSpPr>
        <p:spPr>
          <a:xfrm>
            <a:off x="5112330" y="3157538"/>
            <a:ext cx="3660195" cy="3643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</a:t>
            </a:r>
            <a:r>
              <a:rPr lang="en-US" sz="835" b="1" dirty="0">
                <a:solidFill>
                  <a:srgbClr val="8B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 = 100Ω</a:t>
            </a: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：系统呈现</a:t>
            </a:r>
            <a:r>
              <a:rPr lang="en-US" sz="83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欠阻尼状态</a:t>
            </a: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，表现为明显的简谐振荡衰减过</a:t>
            </a: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程。</a:t>
            </a:r>
            <a:endParaRPr lang="en-US" sz="890" dirty="0"/>
          </a:p>
        </p:txBody>
      </p:sp>
      <p:sp>
        <p:nvSpPr>
          <p:cNvPr id="17" name="Text 13"/>
          <p:cNvSpPr/>
          <p:nvPr/>
        </p:nvSpPr>
        <p:spPr>
          <a:xfrm>
            <a:off x="5026605" y="3607594"/>
            <a:ext cx="3831645" cy="228600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33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核心结论</a:t>
            </a:r>
            <a:endParaRPr lang="en-US" sz="1090" dirty="0"/>
          </a:p>
        </p:txBody>
      </p:sp>
      <p:sp>
        <p:nvSpPr>
          <p:cNvPr id="18" name="Shape 14"/>
          <p:cNvSpPr/>
          <p:nvPr/>
        </p:nvSpPr>
        <p:spPr>
          <a:xfrm>
            <a:off x="5026605" y="3907631"/>
            <a:ext cx="3831645" cy="62865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12330" y="4086225"/>
            <a:ext cx="3660195" cy="3643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实验曲线与理论预测高度吻合。减小回路电阻是增强电磁阻尼、实现系统快速制动最直接有效的物理手段。</a:t>
            </a:r>
            <a:endParaRPr lang="en-US" sz="89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线圈匝数 N 的平方级贡献与应用意义分析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28625" y="1214438"/>
            <a:ext cx="2643188" cy="228600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33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平方级增长效应</a:t>
            </a:r>
            <a:endParaRPr lang="en-US" sz="1090" dirty="0"/>
          </a:p>
        </p:txBody>
      </p:sp>
      <p:sp>
        <p:nvSpPr>
          <p:cNvPr id="6" name="Shape 3"/>
          <p:cNvSpPr/>
          <p:nvPr/>
        </p:nvSpPr>
        <p:spPr>
          <a:xfrm>
            <a:off x="428625" y="1550194"/>
            <a:ext cx="2643188" cy="3450431"/>
          </a:xfrm>
          <a:prstGeom prst="rect">
            <a:avLst/>
          </a:prstGeom>
          <a:solidFill>
            <a:srgbClr val="FFFFFF"/>
          </a:solidFill>
          <a:ln w="9144">
            <a:solidFill>
              <a:srgbClr val="D1D1D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807369"/>
            <a:ext cx="2357438" cy="3657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根据电磁感应定律与动力学推导，阻尼系数 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与线圈匝数 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的平方成正比：</a:t>
            </a:r>
            <a:endParaRPr lang="en-US" sz="835" dirty="0"/>
          </a:p>
        </p:txBody>
      </p:sp>
      <p:sp>
        <p:nvSpPr>
          <p:cNvPr id="8" name="Shape 5"/>
          <p:cNvSpPr/>
          <p:nvPr/>
        </p:nvSpPr>
        <p:spPr>
          <a:xfrm>
            <a:off x="571500" y="2258820"/>
            <a:ext cx="2357438" cy="476845"/>
          </a:xfrm>
          <a:prstGeom prst="rect">
            <a:avLst/>
          </a:prstGeom>
          <a:solidFill>
            <a:srgbClr val="F0F4F8"/>
          </a:solidFill>
          <a:ln w="9144">
            <a:solidFill>
              <a:srgbClr val="00336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90672" y="2410625"/>
            <a:ext cx="447628" cy="1910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70" i="1" dirty="0">
                <a:solidFill>
                  <a:srgbClr val="33333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 ∝ N</a:t>
            </a:r>
            <a:endParaRPr lang="en-US" sz="1270" dirty="0"/>
          </a:p>
        </p:txBody>
      </p:sp>
      <p:sp>
        <p:nvSpPr>
          <p:cNvPr id="10" name="Text 7"/>
          <p:cNvSpPr/>
          <p:nvPr/>
        </p:nvSpPr>
        <p:spPr>
          <a:xfrm>
            <a:off x="1938300" y="2380264"/>
            <a:ext cx="71438" cy="1571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i="1" baseline="30000" dirty="0">
                <a:solidFill>
                  <a:srgbClr val="33333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71500" y="2864253"/>
            <a:ext cx="2357438" cy="5485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这意味着匝数增加一倍，阻尼效果将提升至原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来的 </a:t>
            </a:r>
            <a:r>
              <a:rPr lang="en-US" sz="785" b="1" dirty="0">
                <a:solidFill>
                  <a:srgbClr val="8B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倍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。这种非线性增长特性使得增加匝数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成为调节阻尼强度最有效、最高效的手段。</a:t>
            </a:r>
            <a:endParaRPr lang="en-US" sz="835" dirty="0"/>
          </a:p>
        </p:txBody>
      </p:sp>
      <p:sp>
        <p:nvSpPr>
          <p:cNvPr id="12" name="Text 9"/>
          <p:cNvSpPr/>
          <p:nvPr/>
        </p:nvSpPr>
        <p:spPr>
          <a:xfrm>
            <a:off x="3250406" y="1214438"/>
            <a:ext cx="2643188" cy="228600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33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能量耗散速率分析</a:t>
            </a:r>
            <a:endParaRPr lang="en-US" sz="1090" dirty="0"/>
          </a:p>
        </p:txBody>
      </p:sp>
      <p:sp>
        <p:nvSpPr>
          <p:cNvPr id="13" name="Shape 10"/>
          <p:cNvSpPr/>
          <p:nvPr/>
        </p:nvSpPr>
        <p:spPr>
          <a:xfrm>
            <a:off x="3250406" y="1550194"/>
            <a:ext cx="2643188" cy="3450431"/>
          </a:xfrm>
          <a:prstGeom prst="rect">
            <a:avLst/>
          </a:prstGeom>
          <a:solidFill>
            <a:srgbClr val="FFFFFF"/>
          </a:solidFill>
          <a:ln w="9144">
            <a:solidFill>
              <a:srgbClr val="D1D1D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93281" y="1819870"/>
            <a:ext cx="571500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物理机制：</a:t>
            </a:r>
            <a:endParaRPr lang="en-US" sz="785" dirty="0"/>
          </a:p>
        </p:txBody>
      </p:sp>
      <p:sp>
        <p:nvSpPr>
          <p:cNvPr id="15" name="Text 12"/>
          <p:cNvSpPr/>
          <p:nvPr/>
        </p:nvSpPr>
        <p:spPr>
          <a:xfrm>
            <a:off x="3821906" y="2104532"/>
            <a:ext cx="1928813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1300"/>
              </a:lnSpc>
              <a:buSzPct val="100000"/>
              <a:buChar char="•"/>
            </a:pP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更多的匝数意味着在相同的磁通量变化率下，能够感应出更高的电动势 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ε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。</a:t>
            </a:r>
            <a:endParaRPr lang="en-US" sz="835" dirty="0"/>
          </a:p>
        </p:txBody>
      </p:sp>
      <p:sp>
        <p:nvSpPr>
          <p:cNvPr id="16" name="Text 13"/>
          <p:cNvSpPr/>
          <p:nvPr/>
        </p:nvSpPr>
        <p:spPr>
          <a:xfrm>
            <a:off x="3821906" y="2495987"/>
            <a:ext cx="1928813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1300"/>
              </a:lnSpc>
              <a:buSzPct val="100000"/>
              <a:buChar char="•"/>
            </a:pP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感应电动势的提升直接导致回路中产生更强的感应电流 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。</a:t>
            </a:r>
            <a:endParaRPr lang="en-US" sz="835" dirty="0"/>
          </a:p>
        </p:txBody>
      </p:sp>
      <p:sp>
        <p:nvSpPr>
          <p:cNvPr id="17" name="Text 14"/>
          <p:cNvSpPr/>
          <p:nvPr/>
        </p:nvSpPr>
        <p:spPr>
          <a:xfrm>
            <a:off x="3821906" y="2887442"/>
            <a:ext cx="1928813" cy="4800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1300"/>
              </a:lnSpc>
              <a:buSzPct val="100000"/>
              <a:buChar char="•"/>
            </a:pP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安培力做功功率随之显著增加，加快了机械能向内能（焦耳热）的转化速率。</a:t>
            </a:r>
            <a:endParaRPr lang="en-US" sz="835" dirty="0"/>
          </a:p>
        </p:txBody>
      </p:sp>
      <p:sp>
        <p:nvSpPr>
          <p:cNvPr id="18" name="Text 15"/>
          <p:cNvSpPr/>
          <p:nvPr/>
        </p:nvSpPr>
        <p:spPr>
          <a:xfrm>
            <a:off x="3393281" y="3481769"/>
            <a:ext cx="2357438" cy="5485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数值模拟显示，随着 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的增加，系统从长时段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的简谐衰减迅速过渡到极短时间内的静止状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态。</a:t>
            </a:r>
            <a:endParaRPr lang="en-US" sz="835" dirty="0"/>
          </a:p>
        </p:txBody>
      </p:sp>
      <p:sp>
        <p:nvSpPr>
          <p:cNvPr id="19" name="Text 16"/>
          <p:cNvSpPr/>
          <p:nvPr/>
        </p:nvSpPr>
        <p:spPr>
          <a:xfrm>
            <a:off x="6072188" y="1214438"/>
            <a:ext cx="2643188" cy="228600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33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应用意义与工程价值</a:t>
            </a:r>
            <a:endParaRPr lang="en-US" sz="1090" dirty="0"/>
          </a:p>
        </p:txBody>
      </p:sp>
      <p:sp>
        <p:nvSpPr>
          <p:cNvPr id="20" name="Shape 17"/>
          <p:cNvSpPr/>
          <p:nvPr/>
        </p:nvSpPr>
        <p:spPr>
          <a:xfrm>
            <a:off x="6072188" y="1550194"/>
            <a:ext cx="2643188" cy="3450431"/>
          </a:xfrm>
          <a:prstGeom prst="rect">
            <a:avLst/>
          </a:prstGeom>
          <a:solidFill>
            <a:srgbClr val="FFFFFF"/>
          </a:solidFill>
          <a:ln w="9144">
            <a:solidFill>
              <a:srgbClr val="D1D1D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15063" y="1807369"/>
            <a:ext cx="2357438" cy="5485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空间受限下的性能优化：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在精密仪器或微型阻尼器设计中，通过增加线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圈绕组密度（匝数）比减小电阻更具操作性。</a:t>
            </a:r>
            <a:endParaRPr lang="en-US" sz="785" dirty="0"/>
          </a:p>
        </p:txBody>
      </p:sp>
      <p:sp>
        <p:nvSpPr>
          <p:cNvPr id="22" name="Text 19"/>
          <p:cNvSpPr/>
          <p:nvPr/>
        </p:nvSpPr>
        <p:spPr>
          <a:xfrm>
            <a:off x="6215063" y="2470259"/>
            <a:ext cx="2357438" cy="731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阻尼特性的精确调控：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通过改变线圈的接入匝数，可以实现对系统阻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尼状态（欠阻尼、临界阻尼、过阻尼）的</a:t>
            </a:r>
            <a:r>
              <a:rPr lang="en-US" sz="785" b="1" dirty="0">
                <a:solidFill>
                  <a:srgbClr val="8B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数字</a:t>
            </a:r>
            <a:r>
              <a:rPr lang="en-US" sz="785" b="1" dirty="0">
                <a:solidFill>
                  <a:srgbClr val="8B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化、步进式精确切换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。</a:t>
            </a:r>
            <a:endParaRPr lang="en-US" sz="785" dirty="0"/>
          </a:p>
        </p:txBody>
      </p:sp>
      <p:sp>
        <p:nvSpPr>
          <p:cNvPr id="23" name="Text 20"/>
          <p:cNvSpPr/>
          <p:nvPr/>
        </p:nvSpPr>
        <p:spPr>
          <a:xfrm>
            <a:off x="6215063" y="3316012"/>
            <a:ext cx="2357438" cy="5485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自适应减震系统：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该原理在主动悬挂和精密平台稳态控制中具有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重要的应用前景。</a:t>
            </a:r>
            <a:endParaRPr lang="en-US" sz="78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42988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4" name="Text 1"/>
          <p:cNvSpPr/>
          <p:nvPr/>
        </p:nvSpPr>
        <p:spPr>
          <a:xfrm>
            <a:off x="285750" y="285750"/>
            <a:ext cx="8858250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深度思考：阻尼系数的空间分布验证与衰减突变研究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57175" y="1157288"/>
            <a:ext cx="3394370" cy="200025"/>
          </a:xfrm>
          <a:prstGeom prst="rect">
            <a:avLst/>
          </a:prstGeom>
          <a:noFill/>
        </p:spPr>
        <p:txBody>
          <a:bodyPr wrap="none" lIns="8509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90" b="1" dirty="0">
                <a:solidFill>
                  <a:srgbClr val="0033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物理特征与位置相关性验证</a:t>
            </a:r>
            <a:endParaRPr lang="en-US" sz="1090" dirty="0"/>
          </a:p>
        </p:txBody>
      </p:sp>
      <p:sp>
        <p:nvSpPr>
          <p:cNvPr id="6" name="Shape 3"/>
          <p:cNvSpPr/>
          <p:nvPr/>
        </p:nvSpPr>
        <p:spPr>
          <a:xfrm>
            <a:off x="257175" y="1414463"/>
            <a:ext cx="3394370" cy="617209"/>
          </a:xfrm>
          <a:prstGeom prst="rect">
            <a:avLst/>
          </a:prstGeom>
          <a:solidFill>
            <a:srgbClr val="FFFFFF"/>
          </a:solidFill>
          <a:ln w="9144">
            <a:solidFill>
              <a:srgbClr val="D1D1D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8613" y="1500188"/>
            <a:ext cx="3251495" cy="19430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3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对称峰值结构：</a:t>
            </a: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阻尼在磁铁与线圈重合处最大。</a:t>
            </a:r>
            <a:endParaRPr lang="en-US" sz="835" dirty="0"/>
          </a:p>
        </p:txBody>
      </p:sp>
      <p:sp>
        <p:nvSpPr>
          <p:cNvPr id="8" name="Text 5"/>
          <p:cNvSpPr/>
          <p:nvPr/>
        </p:nvSpPr>
        <p:spPr>
          <a:xfrm>
            <a:off x="328613" y="1737354"/>
            <a:ext cx="3251495" cy="19430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3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强阻尼区验证：</a:t>
            </a: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仅在平衡附近小范围出现最强阻尼。</a:t>
            </a:r>
            <a:endParaRPr lang="en-US" sz="835" dirty="0"/>
          </a:p>
        </p:txBody>
      </p:sp>
      <p:sp>
        <p:nvSpPr>
          <p:cNvPr id="9" name="Text 6"/>
          <p:cNvSpPr/>
          <p:nvPr/>
        </p:nvSpPr>
        <p:spPr>
          <a:xfrm>
            <a:off x="257175" y="2145971"/>
            <a:ext cx="3394370" cy="200025"/>
          </a:xfrm>
          <a:prstGeom prst="rect">
            <a:avLst/>
          </a:prstGeom>
          <a:noFill/>
        </p:spPr>
        <p:txBody>
          <a:bodyPr wrap="none" lIns="8509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90" b="1" dirty="0">
                <a:solidFill>
                  <a:srgbClr val="0033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核心发现：非指数级衰减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257175" y="2403146"/>
            <a:ext cx="3394370" cy="574346"/>
          </a:xfrm>
          <a:prstGeom prst="rect">
            <a:avLst/>
          </a:prstGeom>
          <a:solidFill>
            <a:srgbClr val="F0F4F8"/>
          </a:solidFill>
          <a:ln w="9144">
            <a:solidFill>
              <a:srgbClr val="0033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8613" y="2488871"/>
            <a:ext cx="3251495" cy="3886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空间分布解释了实验中的</a:t>
            </a:r>
            <a:r>
              <a:rPr lang="en-US" sz="83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非指数级衰减</a:t>
            </a: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，修正后拟合优度提</a:t>
            </a: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高 </a:t>
            </a:r>
            <a:r>
              <a:rPr lang="en-US" sz="835" b="1" dirty="0">
                <a:solidFill>
                  <a:srgbClr val="8B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15%</a:t>
            </a: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。</a:t>
            </a:r>
            <a:endParaRPr lang="en-US" sz="890" dirty="0"/>
          </a:p>
        </p:txBody>
      </p:sp>
      <p:sp>
        <p:nvSpPr>
          <p:cNvPr id="12" name="Shape 9"/>
          <p:cNvSpPr/>
          <p:nvPr/>
        </p:nvSpPr>
        <p:spPr>
          <a:xfrm>
            <a:off x="3737270" y="1100138"/>
            <a:ext cx="5149555" cy="1196913"/>
          </a:xfrm>
          <a:prstGeom prst="rect">
            <a:avLst/>
          </a:prstGeom>
          <a:solidFill>
            <a:srgbClr val="FFFFFF"/>
          </a:solidFill>
          <a:ln w="9144">
            <a:solidFill>
              <a:srgbClr val="D1D1D1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420" y="1143000"/>
            <a:ext cx="5049543" cy="8572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52985" y="2085975"/>
            <a:ext cx="971550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5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图 5：电磁阻尼系数 b</a:t>
            </a:r>
            <a:endParaRPr lang="en-US" sz="725" dirty="0"/>
          </a:p>
        </p:txBody>
      </p:sp>
      <p:sp>
        <p:nvSpPr>
          <p:cNvPr id="15" name="Text 11"/>
          <p:cNvSpPr/>
          <p:nvPr/>
        </p:nvSpPr>
        <p:spPr>
          <a:xfrm>
            <a:off x="6324535" y="2125600"/>
            <a:ext cx="123230" cy="1143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05" baseline="-400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</a:t>
            </a:r>
            <a:endParaRPr lang="en-US" sz="605" dirty="0"/>
          </a:p>
        </p:txBody>
      </p:sp>
      <p:sp>
        <p:nvSpPr>
          <p:cNvPr id="16" name="Text 12"/>
          <p:cNvSpPr/>
          <p:nvPr/>
        </p:nvSpPr>
        <p:spPr>
          <a:xfrm>
            <a:off x="6447765" y="2085975"/>
            <a:ext cx="837605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5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(y) 的空间分布验证</a:t>
            </a:r>
            <a:endParaRPr lang="en-US" sz="725" dirty="0"/>
          </a:p>
        </p:txBody>
      </p:sp>
      <p:sp>
        <p:nvSpPr>
          <p:cNvPr id="17" name="Text 13"/>
          <p:cNvSpPr/>
          <p:nvPr/>
        </p:nvSpPr>
        <p:spPr>
          <a:xfrm>
            <a:off x="3751557" y="2411350"/>
            <a:ext cx="5135268" cy="200025"/>
          </a:xfrm>
          <a:prstGeom prst="rect">
            <a:avLst/>
          </a:prstGeom>
          <a:noFill/>
        </p:spPr>
        <p:txBody>
          <a:bodyPr wrap="none" lIns="8509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90" b="1" dirty="0">
                <a:solidFill>
                  <a:srgbClr val="0033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大振幅下的衰减突变</a:t>
            </a:r>
            <a:endParaRPr lang="en-US" sz="1090" dirty="0"/>
          </a:p>
        </p:txBody>
      </p:sp>
      <p:sp>
        <p:nvSpPr>
          <p:cNvPr id="18" name="Shape 14"/>
          <p:cNvSpPr/>
          <p:nvPr/>
        </p:nvSpPr>
        <p:spPr>
          <a:xfrm>
            <a:off x="3751557" y="2668525"/>
            <a:ext cx="5135268" cy="380042"/>
          </a:xfrm>
          <a:prstGeom prst="rect">
            <a:avLst/>
          </a:prstGeom>
          <a:solidFill>
            <a:srgbClr val="FFFFFF"/>
          </a:solidFill>
          <a:ln w="9144">
            <a:solidFill>
              <a:srgbClr val="D1D1D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822995" y="2754250"/>
            <a:ext cx="4992393" cy="19430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初始振幅较大时，磁铁可移出强阻尼区，导致衰减速率发生</a:t>
            </a:r>
            <a:r>
              <a:rPr lang="en-US" sz="835" b="1" dirty="0">
                <a:solidFill>
                  <a:srgbClr val="8B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突变</a:t>
            </a:r>
            <a:r>
              <a:rPr lang="en-US" sz="89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。</a:t>
            </a:r>
            <a:endParaRPr lang="en-US" sz="8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数值求解：超级非线性微分方程的高精度近似分析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28625" y="1214438"/>
            <a:ext cx="3228975" cy="228600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33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高精度数值近似方法</a:t>
            </a:r>
            <a:endParaRPr lang="en-US" sz="1090" dirty="0"/>
          </a:p>
        </p:txBody>
      </p:sp>
      <p:sp>
        <p:nvSpPr>
          <p:cNvPr id="6" name="Shape 3"/>
          <p:cNvSpPr/>
          <p:nvPr/>
        </p:nvSpPr>
        <p:spPr>
          <a:xfrm>
            <a:off x="428625" y="1528763"/>
            <a:ext cx="3228975" cy="1632961"/>
          </a:xfrm>
          <a:prstGeom prst="rect">
            <a:avLst/>
          </a:prstGeom>
          <a:solidFill>
            <a:srgbClr val="FFFFFF"/>
          </a:solidFill>
          <a:ln w="9144">
            <a:solidFill>
              <a:srgbClr val="D1D1D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750219"/>
            <a:ext cx="2943225" cy="3657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针对修正后的二阶非线性常微分方程，我们采用了高阶数值积分算法：</a:t>
            </a:r>
            <a:endParaRPr lang="en-US" sz="835" dirty="0"/>
          </a:p>
        </p:txBody>
      </p:sp>
      <p:sp>
        <p:nvSpPr>
          <p:cNvPr id="8" name="Text 5"/>
          <p:cNvSpPr/>
          <p:nvPr/>
        </p:nvSpPr>
        <p:spPr>
          <a:xfrm>
            <a:off x="571500" y="2230245"/>
            <a:ext cx="2943225" cy="3657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核心思想：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通过在时间区间内多点采样斜率，以合理权重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组合逼近函数积分规律，有效抵消低阶数值误差。</a:t>
            </a:r>
            <a:endParaRPr lang="en-US" sz="785" dirty="0"/>
          </a:p>
        </p:txBody>
      </p:sp>
      <p:sp>
        <p:nvSpPr>
          <p:cNvPr id="9" name="Text 6"/>
          <p:cNvSpPr/>
          <p:nvPr/>
        </p:nvSpPr>
        <p:spPr>
          <a:xfrm>
            <a:off x="571500" y="2710272"/>
            <a:ext cx="2943225" cy="3657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优势：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在保证计算效率的同时，实现了对复杂非线性系统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演化轨迹的高精度数值近似。</a:t>
            </a:r>
            <a:endParaRPr lang="en-US" sz="785" dirty="0"/>
          </a:p>
        </p:txBody>
      </p:sp>
      <p:sp>
        <p:nvSpPr>
          <p:cNvPr id="10" name="Text 7"/>
          <p:cNvSpPr/>
          <p:nvPr/>
        </p:nvSpPr>
        <p:spPr>
          <a:xfrm>
            <a:off x="428625" y="3361748"/>
            <a:ext cx="3228975" cy="228600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33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仿真结论验证</a:t>
            </a:r>
            <a:endParaRPr lang="en-US" sz="1090" dirty="0"/>
          </a:p>
        </p:txBody>
      </p:sp>
      <p:sp>
        <p:nvSpPr>
          <p:cNvPr id="11" name="Shape 8"/>
          <p:cNvSpPr/>
          <p:nvPr/>
        </p:nvSpPr>
        <p:spPr>
          <a:xfrm>
            <a:off x="428625" y="3676073"/>
            <a:ext cx="3228975" cy="672908"/>
          </a:xfrm>
          <a:prstGeom prst="rect">
            <a:avLst/>
          </a:prstGeom>
          <a:solidFill>
            <a:srgbClr val="F0F4F8"/>
          </a:solidFill>
          <a:ln w="9144">
            <a:solidFill>
              <a:srgbClr val="0033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500" y="3897530"/>
            <a:ext cx="2943225" cy="3657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数值模拟完美复现了实验中观察到的</a:t>
            </a:r>
            <a:r>
              <a:rPr lang="en-US" sz="78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非线性衰减特征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，验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证了位置相关阻尼模型在描述大振幅运动时的优越性。</a:t>
            </a:r>
            <a:endParaRPr lang="en-US" sz="835" dirty="0"/>
          </a:p>
        </p:txBody>
      </p:sp>
      <p:sp>
        <p:nvSpPr>
          <p:cNvPr id="13" name="Shape 10"/>
          <p:cNvSpPr/>
          <p:nvPr/>
        </p:nvSpPr>
        <p:spPr>
          <a:xfrm>
            <a:off x="3871913" y="1143000"/>
            <a:ext cx="4843463" cy="2678906"/>
          </a:xfrm>
          <a:prstGeom prst="rect">
            <a:avLst/>
          </a:prstGeom>
          <a:solidFill>
            <a:srgbClr val="FFFFFF"/>
          </a:solidFill>
          <a:ln w="9144">
            <a:solidFill>
              <a:srgbClr val="D1D1D1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019" y="1214438"/>
            <a:ext cx="3143250" cy="23574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43350" y="3662958"/>
            <a:ext cx="4700588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5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图 6：不同参数（k值、初始位置）下的系统动力学响应仿真</a:t>
            </a:r>
            <a:endParaRPr lang="en-US" sz="725" dirty="0"/>
          </a:p>
        </p:txBody>
      </p:sp>
      <p:sp>
        <p:nvSpPr>
          <p:cNvPr id="16" name="Text 12"/>
          <p:cNvSpPr/>
          <p:nvPr/>
        </p:nvSpPr>
        <p:spPr>
          <a:xfrm>
            <a:off x="3871913" y="3879056"/>
            <a:ext cx="4843463" cy="228600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33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多维度响应分析</a:t>
            </a:r>
            <a:endParaRPr lang="en-US" sz="1090" dirty="0"/>
          </a:p>
        </p:txBody>
      </p:sp>
      <p:sp>
        <p:nvSpPr>
          <p:cNvPr id="17" name="Shape 13"/>
          <p:cNvSpPr/>
          <p:nvPr/>
        </p:nvSpPr>
        <p:spPr>
          <a:xfrm>
            <a:off x="3871913" y="4193381"/>
            <a:ext cx="4843463" cy="787208"/>
          </a:xfrm>
          <a:prstGeom prst="rect">
            <a:avLst/>
          </a:prstGeom>
          <a:solidFill>
            <a:srgbClr val="FFFFFF"/>
          </a:solidFill>
          <a:ln w="9144">
            <a:solidFill>
              <a:srgbClr val="D1D1D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014788" y="4414838"/>
            <a:ext cx="4557713" cy="1828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</a:t>
            </a:r>
            <a:r>
              <a:rPr lang="en-US" sz="78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不同 k 值响应：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劲度系数直接决定了系统的固有频率与衰减包络的形态。</a:t>
            </a:r>
            <a:endParaRPr lang="en-US" sz="835" dirty="0"/>
          </a:p>
        </p:txBody>
      </p:sp>
      <p:sp>
        <p:nvSpPr>
          <p:cNvPr id="19" name="Text 15"/>
          <p:cNvSpPr/>
          <p:nvPr/>
        </p:nvSpPr>
        <p:spPr>
          <a:xfrm>
            <a:off x="4014788" y="4712001"/>
            <a:ext cx="4557713" cy="1828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</a:t>
            </a:r>
            <a:r>
              <a:rPr lang="en-US" sz="78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不同初始位置响应：</a:t>
            </a:r>
            <a:r>
              <a:rPr lang="en-US" sz="835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进一步证实了磁铁移出强阻尼区后衰减速率的突变行为。</a:t>
            </a:r>
            <a:endParaRPr lang="en-US" sz="83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总结、展望与致谢：研究结论与未来改进方向分析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85750" y="1214438"/>
            <a:ext cx="2745600" cy="207169"/>
          </a:xfrm>
          <a:prstGeom prst="rect">
            <a:avLst/>
          </a:prstGeom>
          <a:noFill/>
        </p:spPr>
        <p:txBody>
          <a:bodyPr wrap="none" lIns="102108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033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研究总结 (Conclusion)</a:t>
            </a:r>
            <a:endParaRPr lang="en-US" sz="985" dirty="0"/>
          </a:p>
        </p:txBody>
      </p:sp>
      <p:sp>
        <p:nvSpPr>
          <p:cNvPr id="6" name="Shape 3"/>
          <p:cNvSpPr/>
          <p:nvPr/>
        </p:nvSpPr>
        <p:spPr>
          <a:xfrm>
            <a:off x="285750" y="1493044"/>
            <a:ext cx="2745600" cy="3543300"/>
          </a:xfrm>
          <a:prstGeom prst="rect">
            <a:avLst/>
          </a:prstGeom>
          <a:solidFill>
            <a:srgbClr val="FFFFFF"/>
          </a:solidFill>
          <a:ln w="9144">
            <a:solidFill>
              <a:srgbClr val="D1D1D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92906" y="1707356"/>
            <a:ext cx="2531287" cy="4822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理论建模：</a:t>
            </a:r>
            <a:r>
              <a:rPr lang="en-US" sz="78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成功建立了考虑磁场空间分布的</a:t>
            </a:r>
            <a:r>
              <a:rPr lang="en-US" sz="735" b="1" dirty="0">
                <a:solidFill>
                  <a:srgbClr val="8B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非线性</a:t>
            </a:r>
            <a:r>
              <a:rPr lang="en-US" sz="735" b="1" dirty="0">
                <a:solidFill>
                  <a:srgbClr val="8B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电磁阻尼模型</a:t>
            </a:r>
            <a:r>
              <a:rPr lang="en-US" sz="78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，揭示了位置相关阻尼是导致非指数级</a:t>
            </a:r>
            <a:r>
              <a:rPr lang="en-US" sz="78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衰减的核心物理原因。</a:t>
            </a:r>
            <a:endParaRPr lang="en-US" sz="735" dirty="0"/>
          </a:p>
        </p:txBody>
      </p:sp>
      <p:sp>
        <p:nvSpPr>
          <p:cNvPr id="8" name="Text 5"/>
          <p:cNvSpPr/>
          <p:nvPr/>
        </p:nvSpPr>
        <p:spPr>
          <a:xfrm>
            <a:off x="392906" y="2296716"/>
            <a:ext cx="2531287" cy="3214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参数验证：</a:t>
            </a:r>
            <a:r>
              <a:rPr lang="en-US" sz="78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实验严谨验证了阻尼系数与电阻 </a:t>
            </a:r>
            <a:r>
              <a:rPr lang="en-US" sz="78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</a:t>
            </a:r>
            <a:r>
              <a:rPr lang="en-US" sz="78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的</a:t>
            </a:r>
            <a:r>
              <a:rPr lang="en-US" sz="78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反比关系，以及与线圈匝数 </a:t>
            </a:r>
            <a:r>
              <a:rPr lang="en-US" sz="78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</a:t>
            </a:r>
            <a:r>
              <a:rPr lang="en-US" sz="78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的</a:t>
            </a:r>
            <a:r>
              <a:rPr lang="en-US" sz="735" b="1" dirty="0">
                <a:solidFill>
                  <a:srgbClr val="8B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平方正比关系</a:t>
            </a:r>
            <a:r>
              <a:rPr lang="en-US" sz="78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。</a:t>
            </a:r>
            <a:endParaRPr lang="en-US" sz="735" dirty="0"/>
          </a:p>
        </p:txBody>
      </p:sp>
      <p:sp>
        <p:nvSpPr>
          <p:cNvPr id="9" name="Text 6"/>
          <p:cNvSpPr/>
          <p:nvPr/>
        </p:nvSpPr>
        <p:spPr>
          <a:xfrm>
            <a:off x="392906" y="2725341"/>
            <a:ext cx="2531287" cy="3214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数值仿真：</a:t>
            </a:r>
            <a:r>
              <a:rPr lang="en-US" sz="78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通过高精度数值求解，完美复现了实验</a:t>
            </a:r>
            <a:r>
              <a:rPr lang="en-US" sz="78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中的非线性动力学特征，模型吻合度显著提升。</a:t>
            </a:r>
            <a:endParaRPr lang="en-US" sz="735" dirty="0"/>
          </a:p>
        </p:txBody>
      </p:sp>
      <p:sp>
        <p:nvSpPr>
          <p:cNvPr id="10" name="Text 7"/>
          <p:cNvSpPr/>
          <p:nvPr/>
        </p:nvSpPr>
        <p:spPr>
          <a:xfrm>
            <a:off x="3174225" y="1214438"/>
            <a:ext cx="2745600" cy="207169"/>
          </a:xfrm>
          <a:prstGeom prst="rect">
            <a:avLst/>
          </a:prstGeom>
          <a:noFill/>
        </p:spPr>
        <p:txBody>
          <a:bodyPr wrap="none" lIns="102108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033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反思与展望 (Outlook)</a:t>
            </a:r>
            <a:endParaRPr lang="en-US" sz="985" dirty="0"/>
          </a:p>
        </p:txBody>
      </p:sp>
      <p:sp>
        <p:nvSpPr>
          <p:cNvPr id="11" name="Shape 8"/>
          <p:cNvSpPr/>
          <p:nvPr/>
        </p:nvSpPr>
        <p:spPr>
          <a:xfrm>
            <a:off x="3174225" y="1493044"/>
            <a:ext cx="2745600" cy="3543300"/>
          </a:xfrm>
          <a:prstGeom prst="rect">
            <a:avLst/>
          </a:prstGeom>
          <a:solidFill>
            <a:srgbClr val="FFFFFF"/>
          </a:solidFill>
          <a:ln w="9144">
            <a:solidFill>
              <a:srgbClr val="D1D1D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81381" y="1707356"/>
            <a:ext cx="2531287" cy="4822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精度提升：</a:t>
            </a:r>
            <a:r>
              <a:rPr lang="en-US" sz="78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目前数值建模仍有优化空间，未来可进</a:t>
            </a:r>
            <a:r>
              <a:rPr lang="en-US" sz="78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一步考虑线圈半径、磁铁几何形状等精细因素对运动</a:t>
            </a:r>
            <a:r>
              <a:rPr lang="en-US" sz="78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轨迹的影响。</a:t>
            </a:r>
            <a:endParaRPr lang="en-US" sz="735" dirty="0"/>
          </a:p>
        </p:txBody>
      </p:sp>
      <p:sp>
        <p:nvSpPr>
          <p:cNvPr id="13" name="Text 10"/>
          <p:cNvSpPr/>
          <p:nvPr/>
        </p:nvSpPr>
        <p:spPr>
          <a:xfrm>
            <a:off x="3281381" y="2296716"/>
            <a:ext cx="2531287" cy="4822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实验拓展：</a:t>
            </a:r>
            <a:r>
              <a:rPr lang="en-US" sz="78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计划使用更精密的位移传感器和系列实</a:t>
            </a:r>
            <a:r>
              <a:rPr lang="en-US" sz="78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验道具，验证在极端参数（如超大振幅、极低电阻）</a:t>
            </a:r>
            <a:r>
              <a:rPr lang="en-US" sz="78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下的模型适用性。</a:t>
            </a:r>
            <a:endParaRPr lang="en-US" sz="735" dirty="0"/>
          </a:p>
        </p:txBody>
      </p:sp>
      <p:sp>
        <p:nvSpPr>
          <p:cNvPr id="14" name="Text 11"/>
          <p:cNvSpPr/>
          <p:nvPr/>
        </p:nvSpPr>
        <p:spPr>
          <a:xfrm>
            <a:off x="3281381" y="2886075"/>
            <a:ext cx="2531287" cy="3214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应用转化：</a:t>
            </a:r>
            <a:r>
              <a:rPr lang="en-US" sz="78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探索该非线性阻尼特性在精密仪器制动</a:t>
            </a:r>
            <a:r>
              <a:rPr lang="en-US" sz="78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和自适应减震系统中的数字化调控潜力。</a:t>
            </a:r>
            <a:endParaRPr lang="en-US" sz="735" dirty="0"/>
          </a:p>
        </p:txBody>
      </p:sp>
      <p:sp>
        <p:nvSpPr>
          <p:cNvPr id="15" name="Shape 12"/>
          <p:cNvSpPr/>
          <p:nvPr/>
        </p:nvSpPr>
        <p:spPr>
          <a:xfrm>
            <a:off x="6062700" y="1143000"/>
            <a:ext cx="2795578" cy="2327077"/>
          </a:xfrm>
          <a:prstGeom prst="rect">
            <a:avLst/>
          </a:prstGeom>
          <a:solidFill>
            <a:srgbClr val="FFFFFF"/>
          </a:solidFill>
          <a:ln w="9144">
            <a:solidFill>
              <a:srgbClr val="D1D1D1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137" y="1200150"/>
            <a:ext cx="2666991" cy="200025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134137" y="3270052"/>
            <a:ext cx="2666991" cy="1285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2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图 6：系统非线性响应的综合数值仿真结果</a:t>
            </a:r>
            <a:endParaRPr lang="en-US" sz="620" dirty="0"/>
          </a:p>
        </p:txBody>
      </p:sp>
      <p:sp>
        <p:nvSpPr>
          <p:cNvPr id="18" name="Shape 14"/>
          <p:cNvSpPr/>
          <p:nvPr/>
        </p:nvSpPr>
        <p:spPr>
          <a:xfrm>
            <a:off x="6076987" y="4327327"/>
            <a:ext cx="2781291" cy="816173"/>
          </a:xfrm>
          <a:prstGeom prst="rect">
            <a:avLst/>
          </a:prstGeom>
          <a:solidFill>
            <a:srgbClr val="003366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076987" y="4484489"/>
            <a:ext cx="2781291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请各位老师同学批评指正！</a:t>
            </a:r>
            <a:endParaRPr lang="en-US" sz="1195" dirty="0"/>
          </a:p>
        </p:txBody>
      </p:sp>
      <p:sp>
        <p:nvSpPr>
          <p:cNvPr id="20" name="Text 16"/>
          <p:cNvSpPr/>
          <p:nvPr/>
        </p:nvSpPr>
        <p:spPr>
          <a:xfrm>
            <a:off x="6076987" y="4839891"/>
            <a:ext cx="2781291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汇报人：杨昊松 | PPT制作：匡自龙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3404</Words>
  <Application>WPS 演示</Application>
  <PresentationFormat>On-screen Show (16:9)</PresentationFormat>
  <Paragraphs>370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6" baseType="lpstr">
      <vt:lpstr>Arial</vt:lpstr>
      <vt:lpstr>宋体</vt:lpstr>
      <vt:lpstr>Wingdings</vt:lpstr>
      <vt:lpstr>Montserrat</vt:lpstr>
      <vt:lpstr>苹方-简</vt:lpstr>
      <vt:lpstr>Montserrat</vt:lpstr>
      <vt:lpstr>Montserrat</vt:lpstr>
      <vt:lpstr>Open Sans</vt:lpstr>
      <vt:lpstr>Open Sans</vt:lpstr>
      <vt:lpstr>Open Sans</vt:lpstr>
      <vt:lpstr>Times New Roman</vt:lpstr>
      <vt:lpstr>Times New Roman</vt:lpstr>
      <vt:lpstr>Times New Roman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等线</vt:lpstr>
      <vt:lpstr>汉仪中等线KW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kuangping</cp:lastModifiedBy>
  <cp:revision>2</cp:revision>
  <dcterms:created xsi:type="dcterms:W3CDTF">2026-03-25T11:20:19Z</dcterms:created>
  <dcterms:modified xsi:type="dcterms:W3CDTF">2026-03-25T11:20:19Z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340EE26DF8C61DFFF3C4C369E96DD3CB_42</vt:lpwstr>
  </property>
  <property fmtid="{D5CDD505-2E9C-101B-9397-08002B2CF9AE}" pid="3" name="KSOProductBuildVer">
    <vt:lpwstr>2052-12.1.23540.23540</vt:lpwstr>
  </property>
</Properties>
</file>